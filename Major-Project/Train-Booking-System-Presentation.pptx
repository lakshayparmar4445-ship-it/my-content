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d21b1ed0584741" /><Relationship Type="http://schemas.openxmlformats.org/officeDocument/2006/relationships/extended-properties" Target="/docProps/app.xml" Id="R3ed444bf0ec3461c" /><Relationship Type="http://schemas.openxmlformats.org/officeDocument/2006/relationships/officeDocument" Target="/ppt/presentation.xml" Id="R75b2ebfa74904707" /></Relationships>
</file>

<file path=ppt/presentation.xml><?xml version="1.0" encoding="utf-8"?>
<p:presentation xmlns:p="http://schemas.openxmlformats.org/presentationml/2006/main">
  <p:sldMasterIdLst>
    <p:sldMasterId xmlns:r="http://schemas.openxmlformats.org/officeDocument/2006/relationships" id="2147483648" r:id="R098c86041294422b"/>
  </p:sldMasterIdLst>
  <p:notesMasterIdLst>
    <p:notesMasterId xmlns:r="http://schemas.openxmlformats.org/officeDocument/2006/relationships" r:id="Rc19c9de3afb44b5e"/>
  </p:notesMasterIdLst>
  <p:sldIdLst>
    <p:sldId xmlns:r="http://schemas.openxmlformats.org/officeDocument/2006/relationships" id="256" r:id="R4cc4364d9b5743e9"/>
    <p:sldId xmlns:r="http://schemas.openxmlformats.org/officeDocument/2006/relationships" id="257" r:id="R89fdd58c41cd4b8d"/>
    <p:sldId xmlns:r="http://schemas.openxmlformats.org/officeDocument/2006/relationships" id="258" r:id="R6ea17077ae4e4a56"/>
    <p:sldId xmlns:r="http://schemas.openxmlformats.org/officeDocument/2006/relationships" id="259" r:id="R2426ea81b48d42e6"/>
    <p:sldId xmlns:r="http://schemas.openxmlformats.org/officeDocument/2006/relationships" id="260" r:id="Re02ce9b2fcfd4112"/>
    <p:sldId xmlns:r="http://schemas.openxmlformats.org/officeDocument/2006/relationships" id="261" r:id="R555b5e2490c84a44"/>
    <p:sldId xmlns:r="http://schemas.openxmlformats.org/officeDocument/2006/relationships" id="262" r:id="R60353f8099ef49a6"/>
    <p:sldId xmlns:r="http://schemas.openxmlformats.org/officeDocument/2006/relationships" id="263" r:id="R770ab9a9bfa94e94"/>
    <p:sldId xmlns:r="http://schemas.openxmlformats.org/officeDocument/2006/relationships" id="264" r:id="R388081ffc67542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49b95c78b34c29" /><Relationship Type="http://schemas.openxmlformats.org/officeDocument/2006/relationships/slideMaster" Target="/ppt/slideMasters/slideMaster1.xml" Id="R098c86041294422b" /><Relationship Type="http://schemas.openxmlformats.org/officeDocument/2006/relationships/notesMaster" Target="/ppt/notesMasters/notesMaster1.xml" Id="Rc19c9de3afb44b5e" /><Relationship Type="http://schemas.openxmlformats.org/officeDocument/2006/relationships/presProps" Target="/ppt/presProps.xml" Id="R01c0ee063a8a4163" /><Relationship Type="http://schemas.openxmlformats.org/officeDocument/2006/relationships/tableStyles" Target="/ppt/tableStyles.xml" Id="R0aad4981dcd04343" /><Relationship Type="http://schemas.openxmlformats.org/officeDocument/2006/relationships/slide" Target="/ppt/slides/slide1.xml" Id="R4cc4364d9b5743e9" /><Relationship Type="http://schemas.openxmlformats.org/officeDocument/2006/relationships/slide" Target="/ppt/slides/slide2.xml" Id="R89fdd58c41cd4b8d" /><Relationship Type="http://schemas.openxmlformats.org/officeDocument/2006/relationships/slide" Target="/ppt/slides/slide3.xml" Id="R6ea17077ae4e4a56" /><Relationship Type="http://schemas.openxmlformats.org/officeDocument/2006/relationships/slide" Target="/ppt/slides/slide4.xml" Id="R2426ea81b48d42e6" /><Relationship Type="http://schemas.openxmlformats.org/officeDocument/2006/relationships/slide" Target="/ppt/slides/slide5.xml" Id="Re02ce9b2fcfd4112" /><Relationship Type="http://schemas.openxmlformats.org/officeDocument/2006/relationships/slide" Target="/ppt/slides/slide6.xml" Id="R555b5e2490c84a44" /><Relationship Type="http://schemas.openxmlformats.org/officeDocument/2006/relationships/slide" Target="/ppt/slides/slide7.xml" Id="R60353f8099ef49a6" /><Relationship Type="http://schemas.openxmlformats.org/officeDocument/2006/relationships/slide" Target="/ppt/slides/slide8.xml" Id="R770ab9a9bfa94e94" /><Relationship Type="http://schemas.openxmlformats.org/officeDocument/2006/relationships/slide" Target="/ppt/slides/slide9.xml" Id="R388081ffc67542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4377a047fb4a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72cfc24e7c4e02" /><Relationship Type="http://schemas.openxmlformats.org/officeDocument/2006/relationships/notesMaster" Target="/ppt/notesMasters/notesMaster1.xml" Id="R1a843e653eb645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8eb5ac66544c19" /><Relationship Type="http://schemas.openxmlformats.org/officeDocument/2006/relationships/notesMaster" Target="/ppt/notesMasters/notesMaster1.xml" Id="R462d0ed101fa40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3fe57311514723" /><Relationship Type="http://schemas.openxmlformats.org/officeDocument/2006/relationships/notesMaster" Target="/ppt/notesMasters/notesMaster1.xml" Id="R6ea193e2275941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c204b9cea348a8" /><Relationship Type="http://schemas.openxmlformats.org/officeDocument/2006/relationships/notesMaster" Target="/ppt/notesMasters/notesMaster1.xml" Id="R0948ed11c4c748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87bc4bce01404a" /><Relationship Type="http://schemas.openxmlformats.org/officeDocument/2006/relationships/notesMaster" Target="/ppt/notesMasters/notesMaster1.xml" Id="R2184264e4cc74f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1bd2280ec04c0b" /><Relationship Type="http://schemas.openxmlformats.org/officeDocument/2006/relationships/notesMaster" Target="/ppt/notesMasters/notesMaster1.xml" Id="R0d10df793caf40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6341b600104e91" /><Relationship Type="http://schemas.openxmlformats.org/officeDocument/2006/relationships/notesMaster" Target="/ppt/notesMasters/notesMaster1.xml" Id="Rdbc244fd92f14e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62fb79cc654b4b" /><Relationship Type="http://schemas.openxmlformats.org/officeDocument/2006/relationships/notesMaster" Target="/ppt/notesMasters/notesMaster1.xml" Id="R4f17284fabbc4e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677f78b73c4f4f" /><Relationship Type="http://schemas.openxmlformats.org/officeDocument/2006/relationships/notesMaster" Target="/ppt/notesMasters/notesMaster1.xml" Id="Rbee503607f3140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railday as a student major project built with plain HTML, CSS and JavaScript. The train and station scene is a conceptual illustration. The app uses sample schedules and does not create real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goal as a front-end booking experience. The current code defines six fictional train services, fourteen station options and three seat classes. Keep the distinction clear: sample data helps demonstrate the flow but does not represent live railway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passenger journey in order. Search reads the form; results show route matches; seat selection drives the summary; the passenger form validates entries; and confirmation stores a local demo record. The five nodes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only returns forward journeys where both selected stations occur in the same sample train's stop sequence. The search controls sort results by departure time, lowest sample fare or duration, and can filter by class. The image is a conceptual illustration rather than a photograph of a real ticket or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sample base fares are attached to each leg in the stop sequence. The project sums the selected legs, multiplies by a class factor, rounds the one-traveller fare and then multiplies by traveller count. It adds a sample service charge of ₹45 per traveller. Static seeded seats and saved same-date bookings appear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passenger form uses native browser validation for names, age, email and phone. The code stores the booking object in localStorage so My Trips can read it later. Storage errors are caught, and a private store closure maintains a memory fallback for the current visit. Recommend using sample personal details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separation of concerns. HTML provides semantic structure and controls. CSS owns visual layout and responsive behavior. JavaScript stores the sample data, handles DOM events, computes routes and fares, and updates the page. The three project files are all the app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mapping follows the day notes and examples in the supplied JS.zip. Point out the connection: arrays and objects hold the sample timetable; loops and array methods find routes; DOM events respond to form input; storage keeps demo bookings; and asynchronous patterns create a local loading and saving experience. CSS techniques from the course make the interface adapt to smaller screens.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the result: the project demonstrates an end-to-end booking interface with local persistence. To serve real passengers it would need a verified timetable and inventory source, a server, secure account handling, payment processing and real booking integrations. None of those external services is part of this classroom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63a33eb40a4d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fb5bd1daf94c93" /><Relationship Type="http://schemas.openxmlformats.org/officeDocument/2006/relationships/slideLayout" Target="/ppt/slideLayouts/slideLayout1.xml" Id="R6b6c6f6c473f46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6c6f6c473f46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895ca631214175" /><Relationship Type="http://schemas.openxmlformats.org/officeDocument/2006/relationships/image" Target="/ppt/media/image.png" Id="R7fa30f5e777a41fa" /><Relationship Type="http://schemas.openxmlformats.org/officeDocument/2006/relationships/notesSlide" Target="/ppt/notesSlides/notesSlide1.xml" Id="R1846a1fd351442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1ae3db71e548c7" /><Relationship Type="http://schemas.openxmlformats.org/officeDocument/2006/relationships/notesSlide" Target="/ppt/notesSlides/notesSlide2.xml" Id="Re2d3b7d7b49647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0e252fd93642b4" /><Relationship Type="http://schemas.openxmlformats.org/officeDocument/2006/relationships/notesSlide" Target="/ppt/notesSlides/notesSlide3.xml" Id="R68b333b41ed648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7a73790a5a4da2" /><Relationship Type="http://schemas.openxmlformats.org/officeDocument/2006/relationships/image" Target="/ppt/media/image2.png" Id="R4dc9b5726ad34645" /><Relationship Type="http://schemas.openxmlformats.org/officeDocument/2006/relationships/notesSlide" Target="/ppt/notesSlides/notesSlide4.xml" Id="R12b798ffbfd74f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e5d972a1cf4d66" /><Relationship Type="http://schemas.openxmlformats.org/officeDocument/2006/relationships/notesSlide" Target="/ppt/notesSlides/notesSlide5.xml" Id="R9cf2dff65b3342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a02d2142264d1f" /><Relationship Type="http://schemas.openxmlformats.org/officeDocument/2006/relationships/notesSlide" Target="/ppt/notesSlides/notesSlide6.xml" Id="R8e8ef1ee1f7d4d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80f4c0444d468c" /><Relationship Type="http://schemas.openxmlformats.org/officeDocument/2006/relationships/notesSlide" Target="/ppt/notesSlides/notesSlide7.xml" Id="Raf73402376e44b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c68c3e25b443e1" /><Relationship Type="http://schemas.openxmlformats.org/officeDocument/2006/relationships/notesSlide" Target="/ppt/notesSlides/notesSlide8.xml" Id="R55e85369bf4340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1b3ae9a3864803" /><Relationship Type="http://schemas.openxmlformats.org/officeDocument/2006/relationships/notesSlide" Target="/ppt/notesSlides/notesSlide9.xml" Id="R8ec15d79f1a54fe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fa30f5e777a41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kicker">
            <a:extLst xmlns:a="http://schemas.openxmlformats.org/drawingml/2006/main">
              <a:ext uri="{FF2B5EF4-FFF2-40B4-BE49-F238E27FC236}">
                <a16:creationId xmlns:a16="http://schemas.microsoft.com/office/drawing/2014/main" id="{963EBA4D-8134-4E90-BCEB-12EB0E6A6694}"/>
              </a:ext>
            </a:extLst>
          </p:cNvPr>
          <p:cNvSpPr>
            <a:spLocks xmlns:a="http://schemas.openxmlformats.org/drawingml/2006/main" noGrp="1"/>
          </p:cNvSpPr>
          <p:nvPr/>
        </p:nvSpPr>
        <p:spPr>
          <a:xfrm xmlns:a="http://schemas.openxmlformats.org/drawingml/2006/main">
            <a:off x="742950" y="12954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E9D7B7"/>
                </a:solidFill>
                <a:latin typeface="Arial"/>
                <a:ea typeface="Arial"/>
                <a:cs typeface="Arial"/>
              </a:defRPr>
            </a:pPr>
            <a:r>
              <a:rPr sz="1125" b="1" i="0">
                <a:solidFill>
                  <a:srgbClr val="E9D7B7"/>
                </a:solidFill>
                <a:latin typeface="Arial"/>
                <a:ea typeface="Arial"/>
                <a:cs typeface="Arial"/>
              </a:rPr>
              <a:t>STUDENT PROJECT  /  HTML · CSS · JAVASCRIPT</a:t>
            </a:r>
          </a:p>
        </p:txBody>
      </p:sp>
      <p:sp>
        <p:nvSpPr>
          <p:cNvPr id="3" name="cover-title">
            <a:extLst xmlns:a="http://schemas.openxmlformats.org/drawingml/2006/main">
              <a:ext uri="{FF2B5EF4-FFF2-40B4-BE49-F238E27FC236}">
                <a16:creationId xmlns:a16="http://schemas.microsoft.com/office/drawing/2014/main" id="{E4ED03C6-A427-4B39-917C-40FBCD679F3C}"/>
              </a:ext>
            </a:extLst>
          </p:cNvPr>
          <p:cNvSpPr>
            <a:spLocks xmlns:a="http://schemas.openxmlformats.org/drawingml/2006/main" noGrp="1"/>
          </p:cNvSpPr>
          <p:nvPr/>
        </p:nvSpPr>
        <p:spPr>
          <a:xfrm xmlns:a="http://schemas.openxmlformats.org/drawingml/2006/main">
            <a:off x="714375" y="1885950"/>
            <a:ext cx="6191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025" b="1" i="0">
                <a:solidFill>
                  <a:srgbClr val="FFFFFF"/>
                </a:solidFill>
                <a:latin typeface="Arial"/>
                <a:ea typeface="Arial"/>
                <a:cs typeface="Arial"/>
              </a:defRPr>
            </a:pPr>
            <a:r>
              <a:rPr sz="5025" b="1" i="0">
                <a:solidFill>
                  <a:srgbClr val="FFFFFF"/>
                </a:solidFill>
                <a:latin typeface="Arial"/>
                <a:ea typeface="Arial"/>
                <a:cs typeface="Arial"/>
              </a:rPr>
              <a:t>Train Booking</a:t>
            </a:r>
          </a:p>
          <a:p xmlns:a="http://schemas.openxmlformats.org/drawingml/2006/main">
            <a:pPr algn="l">
              <a:defRPr sz="5025" b="1" i="0">
                <a:solidFill>
                  <a:srgbClr val="FFFFFF"/>
                </a:solidFill>
                <a:latin typeface="Arial"/>
                <a:ea typeface="Arial"/>
                <a:cs typeface="Arial"/>
              </a:defRPr>
            </a:pPr>
            <a:r>
              <a:rPr sz="5025" b="1" i="0">
                <a:solidFill>
                  <a:srgbClr val="FFFFFF"/>
                </a:solidFill>
                <a:latin typeface="Arial"/>
                <a:ea typeface="Arial"/>
                <a:cs typeface="Arial"/>
              </a:rPr>
              <a:t>System</a:t>
            </a:r>
          </a:p>
        </p:txBody>
      </p:sp>
      <p:sp>
        <p:nvSpPr>
          <p:cNvPr id="4" name="">
            <a:extLst xmlns:a="http://schemas.openxmlformats.org/drawingml/2006/main">
              <a:ext uri="{FF2B5EF4-FFF2-40B4-BE49-F238E27FC236}">
                <a16:creationId xmlns:a16="http://schemas.microsoft.com/office/drawing/2014/main" id="{60A433AB-6E24-4719-8262-6C0B1039A9C8}"/>
              </a:ext>
            </a:extLst>
          </p:cNvPr>
          <p:cNvSpPr>
            <a:spLocks xmlns:a="http://schemas.openxmlformats.org/drawingml/2006/main" noGrp="1"/>
          </p:cNvSpPr>
          <p:nvPr/>
        </p:nvSpPr>
        <p:spPr>
          <a:xfrm xmlns:a="http://schemas.openxmlformats.org/drawingml/2006/main">
            <a:off x="762000" y="3848100"/>
            <a:ext cx="552450" cy="38100"/>
          </a:xfrm>
          <a:prstGeom xmlns:a="http://schemas.openxmlformats.org/drawingml/2006/main" prst="rect">
            <a:avLst/>
          </a:prstGeom>
          <a:solidFill xmlns:a="http://schemas.openxmlformats.org/drawingml/2006/main">
            <a:srgbClr val="D0A15E"/>
          </a:solidFill>
          <a:ln xmlns:a="http://schemas.openxmlformats.org/drawingml/2006/main" w="0">
            <a:noFill/>
          </a:ln>
        </p:spPr>
      </p:sp>
      <p:sp>
        <p:nvSpPr>
          <p:cNvPr id="5" name="cover-subtitle">
            <a:extLst xmlns:a="http://schemas.openxmlformats.org/drawingml/2006/main">
              <a:ext uri="{FF2B5EF4-FFF2-40B4-BE49-F238E27FC236}">
                <a16:creationId xmlns:a16="http://schemas.microsoft.com/office/drawing/2014/main" id="{8C083CA0-2EA8-40C7-BC24-9128FFD67C9F}"/>
              </a:ext>
            </a:extLst>
          </p:cNvPr>
          <p:cNvSpPr>
            <a:spLocks xmlns:a="http://schemas.openxmlformats.org/drawingml/2006/main" noGrp="1"/>
          </p:cNvSpPr>
          <p:nvPr/>
        </p:nvSpPr>
        <p:spPr>
          <a:xfrm xmlns:a="http://schemas.openxmlformats.org/drawingml/2006/main">
            <a:off x="762000" y="4114800"/>
            <a:ext cx="571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i="0">
                <a:solidFill>
                  <a:srgbClr val="F4F0E7"/>
                </a:solidFill>
                <a:latin typeface="Arial"/>
                <a:ea typeface="Arial"/>
                <a:cs typeface="Arial"/>
              </a:defRPr>
            </a:pPr>
            <a:r>
              <a:rPr sz="2025" b="0" i="0">
                <a:solidFill>
                  <a:srgbClr val="F4F0E7"/>
                </a:solidFill>
                <a:latin typeface="Arial"/>
                <a:ea typeface="Arial"/>
                <a:cs typeface="Arial"/>
              </a:rPr>
              <a:t>A browser-based rail journey planner</a:t>
            </a:r>
          </a:p>
        </p:txBody>
      </p:sp>
      <p:sp>
        <p:nvSpPr>
          <p:cNvPr id="6" name="cover-scope">
            <a:extLst xmlns:a="http://schemas.openxmlformats.org/drawingml/2006/main">
              <a:ext uri="{FF2B5EF4-FFF2-40B4-BE49-F238E27FC236}">
                <a16:creationId xmlns:a16="http://schemas.microsoft.com/office/drawing/2014/main" id="{BB048EB7-3EB0-4A6B-8BD6-4ED050BA1B82}"/>
              </a:ext>
            </a:extLst>
          </p:cNvPr>
          <p:cNvSpPr>
            <a:spLocks xmlns:a="http://schemas.openxmlformats.org/drawingml/2006/main" noGrp="1"/>
          </p:cNvSpPr>
          <p:nvPr/>
        </p:nvSpPr>
        <p:spPr>
          <a:xfrm xmlns:a="http://schemas.openxmlformats.org/drawingml/2006/main">
            <a:off x="762000" y="476250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D4DDE0"/>
                </a:solidFill>
                <a:latin typeface="Arial"/>
                <a:ea typeface="Arial"/>
                <a:cs typeface="Arial"/>
              </a:defRPr>
            </a:pPr>
            <a:r>
              <a:rPr sz="1200" b="0" i="0">
                <a:solidFill>
                  <a:srgbClr val="D4DDE0"/>
                </a:solidFill>
                <a:latin typeface="Arial"/>
                <a:ea typeface="Arial"/>
                <a:cs typeface="Arial"/>
              </a:rPr>
              <a:t>Sample routes · seat selection · local demo bookings</a:t>
            </a:r>
          </a:p>
        </p:txBody>
      </p:sp>
    </p:spTree>
    <p:extLst>
      <p:ext uri="{BB962C8B-B14F-4D97-AF65-F5344CB8AC3E}">
        <p14:creationId xmlns:p14="http://schemas.microsoft.com/office/powerpoint/2010/main" val="703084725"/>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04FD69A9-7226-4B02-856A-C0F5C84D96B6}"/>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PROJECT OVERVIEW</a:t>
            </a:r>
          </a:p>
        </p:txBody>
      </p:sp>
      <p:sp>
        <p:nvSpPr>
          <p:cNvPr id="2" name="slide-title">
            <a:extLst xmlns:a="http://schemas.openxmlformats.org/drawingml/2006/main">
              <a:ext uri="{FF2B5EF4-FFF2-40B4-BE49-F238E27FC236}">
                <a16:creationId xmlns:a16="http://schemas.microsoft.com/office/drawing/2014/main" id="{A850F193-7F00-40E3-A37A-2D6548DF0361}"/>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A clear path from search to a saved trip.</a:t>
            </a:r>
          </a:p>
        </p:txBody>
      </p:sp>
      <p:sp>
        <p:nvSpPr>
          <p:cNvPr id="3" name="slide-subtitle">
            <a:extLst xmlns:a="http://schemas.openxmlformats.org/drawingml/2006/main">
              <a:ext uri="{FF2B5EF4-FFF2-40B4-BE49-F238E27FC236}">
                <a16:creationId xmlns:a16="http://schemas.microsoft.com/office/drawing/2014/main" id="{E9C331E9-2970-42B2-A59B-282FDE93463F}"/>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One front-end flow brings route discovery, seat choice and a local booking record together.</a:t>
            </a:r>
          </a:p>
        </p:txBody>
      </p:sp>
      <p:sp>
        <p:nvSpPr>
          <p:cNvPr id="4" name="overview-purpose">
            <a:extLst xmlns:a="http://schemas.openxmlformats.org/drawingml/2006/main">
              <a:ext uri="{FF2B5EF4-FFF2-40B4-BE49-F238E27FC236}">
                <a16:creationId xmlns:a16="http://schemas.microsoft.com/office/drawing/2014/main" id="{186D40A2-0C69-4002-BA7A-EE097F908152}"/>
              </a:ext>
            </a:extLst>
          </p:cNvPr>
          <p:cNvSpPr>
            <a:spLocks xmlns:a="http://schemas.openxmlformats.org/drawingml/2006/main" noGrp="1"/>
          </p:cNvSpPr>
          <p:nvPr/>
        </p:nvSpPr>
        <p:spPr>
          <a:xfrm xmlns:a="http://schemas.openxmlformats.org/drawingml/2006/main">
            <a:off x="685800" y="2343150"/>
            <a:ext cx="4810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172D34"/>
                </a:solidFill>
                <a:latin typeface="Arial"/>
                <a:ea typeface="Arial"/>
                <a:cs typeface="Arial"/>
              </a:defRPr>
            </a:pPr>
            <a:r>
              <a:rPr sz="1800" b="0" i="0">
                <a:solidFill>
                  <a:srgbClr val="172D34"/>
                </a:solidFill>
                <a:latin typeface="Arial"/>
                <a:ea typeface="Arial"/>
                <a:cs typeface="Arial"/>
              </a:rPr>
              <a:t>The project gives a passenger one place to explore a sample train route, review a fare and save a demo trip in the browser.</a:t>
            </a:r>
          </a:p>
        </p:txBody>
      </p:sp>
      <p:sp>
        <p:nvSpPr>
          <p:cNvPr id="5" name="overview-scope">
            <a:extLst xmlns:a="http://schemas.openxmlformats.org/drawingml/2006/main">
              <a:ext uri="{FF2B5EF4-FFF2-40B4-BE49-F238E27FC236}">
                <a16:creationId xmlns:a16="http://schemas.microsoft.com/office/drawing/2014/main" id="{4F156FDD-C05F-47F2-BE56-DF7EC90F43C5}"/>
              </a:ext>
            </a:extLst>
          </p:cNvPr>
          <p:cNvSpPr>
            <a:spLocks xmlns:a="http://schemas.openxmlformats.org/drawingml/2006/main" noGrp="1"/>
          </p:cNvSpPr>
          <p:nvPr/>
        </p:nvSpPr>
        <p:spPr>
          <a:xfrm xmlns:a="http://schemas.openxmlformats.org/drawingml/2006/main">
            <a:off x="685800" y="3762375"/>
            <a:ext cx="457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66B"/>
                </a:solidFill>
                <a:latin typeface="Arial"/>
                <a:ea typeface="Arial"/>
                <a:cs typeface="Arial"/>
              </a:defRPr>
            </a:pPr>
            <a:r>
              <a:rPr sz="1275" b="0" i="0">
                <a:solidFill>
                  <a:srgbClr val="53666B"/>
                </a:solidFill>
                <a:latin typeface="Arial"/>
                <a:ea typeface="Arial"/>
                <a:cs typeface="Arial"/>
              </a:rPr>
              <a:t>The timetable, seats and prices are illustrative data. There is no railway API, payment step or live reservation.</a:t>
            </a:r>
          </a:p>
        </p:txBody>
      </p:sp>
      <p:sp>
        <p:nvSpPr>
          <p:cNvPr id="6" name="">
            <a:extLst xmlns:a="http://schemas.openxmlformats.org/drawingml/2006/main">
              <a:ext uri="{FF2B5EF4-FFF2-40B4-BE49-F238E27FC236}">
                <a16:creationId xmlns:a16="http://schemas.microsoft.com/office/drawing/2014/main" id="{B4CBCBB8-8014-44F7-8EB9-C662A287B887}"/>
              </a:ext>
            </a:extLst>
          </p:cNvPr>
          <p:cNvSpPr>
            <a:spLocks xmlns:a="http://schemas.openxmlformats.org/drawingml/2006/main" noGrp="1"/>
          </p:cNvSpPr>
          <p:nvPr/>
        </p:nvSpPr>
        <p:spPr>
          <a:xfrm xmlns:a="http://schemas.openxmlformats.org/drawingml/2006/main">
            <a:off x="6248400" y="2190750"/>
            <a:ext cx="9525" cy="314325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7" name="metric-6">
            <a:extLst xmlns:a="http://schemas.openxmlformats.org/drawingml/2006/main">
              <a:ext uri="{FF2B5EF4-FFF2-40B4-BE49-F238E27FC236}">
                <a16:creationId xmlns:a16="http://schemas.microsoft.com/office/drawing/2014/main" id="{A432FCE0-4653-4A27-823C-D6638FC01E6C}"/>
              </a:ext>
            </a:extLst>
          </p:cNvPr>
          <p:cNvSpPr>
            <a:spLocks xmlns:a="http://schemas.openxmlformats.org/drawingml/2006/main" noGrp="1"/>
          </p:cNvSpPr>
          <p:nvPr/>
        </p:nvSpPr>
        <p:spPr>
          <a:xfrm xmlns:a="http://schemas.openxmlformats.org/drawingml/2006/main">
            <a:off x="6819900" y="2609850"/>
            <a:ext cx="142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75" b="1" i="0">
                <a:solidFill>
                  <a:srgbClr val="245B50"/>
                </a:solidFill>
                <a:latin typeface="Arial"/>
                <a:ea typeface="Arial"/>
                <a:cs typeface="Arial"/>
              </a:defRPr>
            </a:pPr>
            <a:r>
              <a:rPr sz="4575" b="1" i="0">
                <a:solidFill>
                  <a:srgbClr val="245B50"/>
                </a:solidFill>
                <a:latin typeface="Arial"/>
                <a:ea typeface="Arial"/>
                <a:cs typeface="Arial"/>
              </a:rPr>
              <a:t>6</a:t>
            </a:r>
          </a:p>
        </p:txBody>
      </p:sp>
      <p:sp>
        <p:nvSpPr>
          <p:cNvPr id="8" name="metric-label-6">
            <a:extLst xmlns:a="http://schemas.openxmlformats.org/drawingml/2006/main">
              <a:ext uri="{FF2B5EF4-FFF2-40B4-BE49-F238E27FC236}">
                <a16:creationId xmlns:a16="http://schemas.microsoft.com/office/drawing/2014/main" id="{C26388DA-F92E-4C56-BCEB-284B7A7420CF}"/>
              </a:ext>
            </a:extLst>
          </p:cNvPr>
          <p:cNvSpPr>
            <a:spLocks xmlns:a="http://schemas.openxmlformats.org/drawingml/2006/main" noGrp="1"/>
          </p:cNvSpPr>
          <p:nvPr/>
        </p:nvSpPr>
        <p:spPr>
          <a:xfrm xmlns:a="http://schemas.openxmlformats.org/drawingml/2006/main">
            <a:off x="6838950" y="3543300"/>
            <a:ext cx="1447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sample train services</a:t>
            </a:r>
          </a:p>
        </p:txBody>
      </p:sp>
      <p:sp>
        <p:nvSpPr>
          <p:cNvPr id="9" name="metric-14">
            <a:extLst xmlns:a="http://schemas.openxmlformats.org/drawingml/2006/main">
              <a:ext uri="{FF2B5EF4-FFF2-40B4-BE49-F238E27FC236}">
                <a16:creationId xmlns:a16="http://schemas.microsoft.com/office/drawing/2014/main" id="{B90F3905-0B71-4FB2-A466-0ED32CB1D0BF}"/>
              </a:ext>
            </a:extLst>
          </p:cNvPr>
          <p:cNvSpPr>
            <a:spLocks xmlns:a="http://schemas.openxmlformats.org/drawingml/2006/main" noGrp="1"/>
          </p:cNvSpPr>
          <p:nvPr/>
        </p:nvSpPr>
        <p:spPr>
          <a:xfrm xmlns:a="http://schemas.openxmlformats.org/drawingml/2006/main">
            <a:off x="8620125" y="2609850"/>
            <a:ext cx="142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75" b="1" i="0">
                <a:solidFill>
                  <a:srgbClr val="245B50"/>
                </a:solidFill>
                <a:latin typeface="Arial"/>
                <a:ea typeface="Arial"/>
                <a:cs typeface="Arial"/>
              </a:defRPr>
            </a:pPr>
            <a:r>
              <a:rPr sz="4575" b="1" i="0">
                <a:solidFill>
                  <a:srgbClr val="245B50"/>
                </a:solidFill>
                <a:latin typeface="Arial"/>
                <a:ea typeface="Arial"/>
                <a:cs typeface="Arial"/>
              </a:rPr>
              <a:t>14</a:t>
            </a:r>
          </a:p>
        </p:txBody>
      </p:sp>
      <p:sp>
        <p:nvSpPr>
          <p:cNvPr id="10" name="metric-label-14">
            <a:extLst xmlns:a="http://schemas.openxmlformats.org/drawingml/2006/main">
              <a:ext uri="{FF2B5EF4-FFF2-40B4-BE49-F238E27FC236}">
                <a16:creationId xmlns:a16="http://schemas.microsoft.com/office/drawing/2014/main" id="{31399C98-6AF1-4A05-BF9B-DEA558795007}"/>
              </a:ext>
            </a:extLst>
          </p:cNvPr>
          <p:cNvSpPr>
            <a:spLocks xmlns:a="http://schemas.openxmlformats.org/drawingml/2006/main" noGrp="1"/>
          </p:cNvSpPr>
          <p:nvPr/>
        </p:nvSpPr>
        <p:spPr>
          <a:xfrm xmlns:a="http://schemas.openxmlformats.org/drawingml/2006/main">
            <a:off x="8639175" y="3543300"/>
            <a:ext cx="1447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sample stations</a:t>
            </a:r>
          </a:p>
        </p:txBody>
      </p:sp>
      <p:sp>
        <p:nvSpPr>
          <p:cNvPr id="11" name="metric-3">
            <a:extLst xmlns:a="http://schemas.openxmlformats.org/drawingml/2006/main">
              <a:ext uri="{FF2B5EF4-FFF2-40B4-BE49-F238E27FC236}">
                <a16:creationId xmlns:a16="http://schemas.microsoft.com/office/drawing/2014/main" id="{C2CB8D64-1EE7-4C15-A0AF-C30E0138D92D}"/>
              </a:ext>
            </a:extLst>
          </p:cNvPr>
          <p:cNvSpPr>
            <a:spLocks xmlns:a="http://schemas.openxmlformats.org/drawingml/2006/main" noGrp="1"/>
          </p:cNvSpPr>
          <p:nvPr/>
        </p:nvSpPr>
        <p:spPr>
          <a:xfrm xmlns:a="http://schemas.openxmlformats.org/drawingml/2006/main">
            <a:off x="10287000" y="2609850"/>
            <a:ext cx="142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75" b="1" i="0">
                <a:solidFill>
                  <a:srgbClr val="245B50"/>
                </a:solidFill>
                <a:latin typeface="Arial"/>
                <a:ea typeface="Arial"/>
                <a:cs typeface="Arial"/>
              </a:defRPr>
            </a:pPr>
            <a:r>
              <a:rPr sz="4575" b="1" i="0">
                <a:solidFill>
                  <a:srgbClr val="245B50"/>
                </a:solidFill>
                <a:latin typeface="Arial"/>
                <a:ea typeface="Arial"/>
                <a:cs typeface="Arial"/>
              </a:rPr>
              <a:t>3</a:t>
            </a:r>
          </a:p>
        </p:txBody>
      </p:sp>
      <p:sp>
        <p:nvSpPr>
          <p:cNvPr id="12" name="metric-label-3">
            <a:extLst xmlns:a="http://schemas.openxmlformats.org/drawingml/2006/main">
              <a:ext uri="{FF2B5EF4-FFF2-40B4-BE49-F238E27FC236}">
                <a16:creationId xmlns:a16="http://schemas.microsoft.com/office/drawing/2014/main" id="{7C70D6B2-B3C1-40CC-B513-9D336D3D7417}"/>
              </a:ext>
            </a:extLst>
          </p:cNvPr>
          <p:cNvSpPr>
            <a:spLocks xmlns:a="http://schemas.openxmlformats.org/drawingml/2006/main" noGrp="1"/>
          </p:cNvSpPr>
          <p:nvPr/>
        </p:nvSpPr>
        <p:spPr>
          <a:xfrm xmlns:a="http://schemas.openxmlformats.org/drawingml/2006/main">
            <a:off x="10306050" y="3543300"/>
            <a:ext cx="1447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travel classes</a:t>
            </a:r>
          </a:p>
        </p:txBody>
      </p:sp>
      <p:sp>
        <p:nvSpPr>
          <p:cNvPr id="13" name="">
            <a:extLst xmlns:a="http://schemas.openxmlformats.org/drawingml/2006/main">
              <a:ext uri="{FF2B5EF4-FFF2-40B4-BE49-F238E27FC236}">
                <a16:creationId xmlns:a16="http://schemas.microsoft.com/office/drawing/2014/main" id="{A51B7B77-346A-48DB-8C57-181C7B27FE86}"/>
              </a:ext>
            </a:extLst>
          </p:cNvPr>
          <p:cNvSpPr>
            <a:spLocks xmlns:a="http://schemas.openxmlformats.org/drawingml/2006/main" noGrp="1"/>
          </p:cNvSpPr>
          <p:nvPr/>
        </p:nvSpPr>
        <p:spPr>
          <a:xfrm xmlns:a="http://schemas.openxmlformats.org/drawingml/2006/main">
            <a:off x="685800" y="5486400"/>
            <a:ext cx="1082040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4" name="overview-footer">
            <a:extLst xmlns:a="http://schemas.openxmlformats.org/drawingml/2006/main">
              <a:ext uri="{FF2B5EF4-FFF2-40B4-BE49-F238E27FC236}">
                <a16:creationId xmlns:a16="http://schemas.microsoft.com/office/drawing/2014/main" id="{496F58A9-FBD0-4FD4-8026-CE824C3D741D}"/>
              </a:ext>
            </a:extLst>
          </p:cNvPr>
          <p:cNvSpPr>
            <a:spLocks xmlns:a="http://schemas.openxmlformats.org/drawingml/2006/main" noGrp="1"/>
          </p:cNvSpPr>
          <p:nvPr/>
        </p:nvSpPr>
        <p:spPr>
          <a:xfrm xmlns:a="http://schemas.openxmlformats.org/drawingml/2006/main">
            <a:off x="685800" y="56769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718085"/>
                </a:solidFill>
                <a:latin typeface="Arial"/>
                <a:ea typeface="Arial"/>
                <a:cs typeface="Arial"/>
              </a:defRPr>
            </a:pPr>
            <a:r>
              <a:rPr sz="1050" b="0" i="0">
                <a:solidFill>
                  <a:srgbClr val="718085"/>
                </a:solidFill>
                <a:latin typeface="Arial"/>
                <a:ea typeface="Arial"/>
                <a:cs typeface="Arial"/>
              </a:rPr>
              <a:t>Built as a learning project from the HTML, CSS and JavaScript topics in the supplied coaching files.</a:t>
            </a:r>
          </a:p>
        </p:txBody>
      </p:sp>
    </p:spTree>
    <p:extLst>
      <p:ext uri="{BB962C8B-B14F-4D97-AF65-F5344CB8AC3E}">
        <p14:creationId xmlns:p14="http://schemas.microsoft.com/office/powerpoint/2010/main" val="309993520"/>
      </p:ext>
    </p:extLst>
  </p:cSld>
</p:sld>
</file>

<file path=ppt/slides/slide3.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DA5CE118-9DEA-4701-992D-A417D97F488B}"/>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PASSENGER JOURNEY</a:t>
            </a:r>
          </a:p>
        </p:txBody>
      </p:sp>
      <p:sp>
        <p:nvSpPr>
          <p:cNvPr id="2" name="slide-title">
            <a:extLst xmlns:a="http://schemas.openxmlformats.org/drawingml/2006/main">
              <a:ext uri="{FF2B5EF4-FFF2-40B4-BE49-F238E27FC236}">
                <a16:creationId xmlns:a16="http://schemas.microsoft.com/office/drawing/2014/main" id="{F0A95285-176E-4E85-924F-D2E5F3068D31}"/>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Five steps make the booking flow easy to follow.</a:t>
            </a:r>
          </a:p>
        </p:txBody>
      </p:sp>
      <p:sp>
        <p:nvSpPr>
          <p:cNvPr id="3" name="slide-subtitle">
            <a:extLst xmlns:a="http://schemas.openxmlformats.org/drawingml/2006/main">
              <a:ext uri="{FF2B5EF4-FFF2-40B4-BE49-F238E27FC236}">
                <a16:creationId xmlns:a16="http://schemas.microsoft.com/office/drawing/2014/main" id="{ECAD33A8-C294-4B88-ACC5-EF17B80562C6}"/>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Each step updates the information needed for the next one.</a:t>
            </a:r>
          </a:p>
        </p:txBody>
      </p:sp>
      <p:sp>
        <p:nvSpPr>
          <p:cNvPr id="4" name="">
            <a:extLst xmlns:a="http://schemas.openxmlformats.org/drawingml/2006/main">
              <a:ext uri="{FF2B5EF4-FFF2-40B4-BE49-F238E27FC236}">
                <a16:creationId xmlns:a16="http://schemas.microsoft.com/office/drawing/2014/main" id="{4E749075-A983-43A3-A9E6-8D08318EFCE6}"/>
              </a:ext>
            </a:extLst>
          </p:cNvPr>
          <p:cNvSpPr>
            <a:spLocks xmlns:a="http://schemas.openxmlformats.org/drawingml/2006/main" noGrp="1"/>
          </p:cNvSpPr>
          <p:nvPr/>
        </p:nvSpPr>
        <p:spPr>
          <a:xfrm xmlns:a="http://schemas.openxmlformats.org/drawingml/2006/main">
            <a:off x="1790700" y="3133725"/>
            <a:ext cx="1704975" cy="19050"/>
          </a:xfrm>
          <a:prstGeom xmlns:a="http://schemas.openxmlformats.org/drawingml/2006/main" prst="rect">
            <a:avLst/>
          </a:prstGeom>
          <a:solidFill xmlns:a="http://schemas.openxmlformats.org/drawingml/2006/main">
            <a:srgbClr val="C4D0C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7BB4C2-F350-4803-AC8D-66EDC1E640A0}"/>
              </a:ext>
            </a:extLst>
          </p:cNvPr>
          <p:cNvSpPr>
            <a:spLocks xmlns:a="http://schemas.openxmlformats.org/drawingml/2006/main" noGrp="1"/>
          </p:cNvSpPr>
          <p:nvPr/>
        </p:nvSpPr>
        <p:spPr>
          <a:xfrm xmlns:a="http://schemas.openxmlformats.org/drawingml/2006/main">
            <a:off x="4086225" y="3133725"/>
            <a:ext cx="1714500" cy="19050"/>
          </a:xfrm>
          <a:prstGeom xmlns:a="http://schemas.openxmlformats.org/drawingml/2006/main" prst="rect">
            <a:avLst/>
          </a:prstGeom>
          <a:solidFill xmlns:a="http://schemas.openxmlformats.org/drawingml/2006/main">
            <a:srgbClr val="C4D0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B3B81E5-104E-4ABF-805B-455E1B952AAE}"/>
              </a:ext>
            </a:extLst>
          </p:cNvPr>
          <p:cNvSpPr>
            <a:spLocks xmlns:a="http://schemas.openxmlformats.org/drawingml/2006/main" noGrp="1"/>
          </p:cNvSpPr>
          <p:nvPr/>
        </p:nvSpPr>
        <p:spPr>
          <a:xfrm xmlns:a="http://schemas.openxmlformats.org/drawingml/2006/main">
            <a:off x="6391275" y="3133725"/>
            <a:ext cx="1714500" cy="19050"/>
          </a:xfrm>
          <a:prstGeom xmlns:a="http://schemas.openxmlformats.org/drawingml/2006/main" prst="rect">
            <a:avLst/>
          </a:prstGeom>
          <a:solidFill xmlns:a="http://schemas.openxmlformats.org/drawingml/2006/main">
            <a:srgbClr val="C4D0C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2D0BB1-D54A-42A2-9547-ABE79A08B51F}"/>
              </a:ext>
            </a:extLst>
          </p:cNvPr>
          <p:cNvSpPr>
            <a:spLocks xmlns:a="http://schemas.openxmlformats.org/drawingml/2006/main" noGrp="1"/>
          </p:cNvSpPr>
          <p:nvPr/>
        </p:nvSpPr>
        <p:spPr>
          <a:xfrm xmlns:a="http://schemas.openxmlformats.org/drawingml/2006/main">
            <a:off x="8696325" y="3133725"/>
            <a:ext cx="1704975" cy="19050"/>
          </a:xfrm>
          <a:prstGeom xmlns:a="http://schemas.openxmlformats.org/drawingml/2006/main" prst="rect">
            <a:avLst/>
          </a:prstGeom>
          <a:solidFill xmlns:a="http://schemas.openxmlformats.org/drawingml/2006/main">
            <a:srgbClr val="C4D0C6"/>
          </a:solidFill>
          <a:ln xmlns:a="http://schemas.openxmlformats.org/drawingml/2006/main" w="0">
            <a:noFill/>
          </a:ln>
        </p:spPr>
      </p:sp>
      <p:sp>
        <p:nvSpPr>
          <p:cNvPr id="8" name="journey-step-1">
            <a:extLst xmlns:a="http://schemas.openxmlformats.org/drawingml/2006/main">
              <a:ext uri="{FF2B5EF4-FFF2-40B4-BE49-F238E27FC236}">
                <a16:creationId xmlns:a16="http://schemas.microsoft.com/office/drawing/2014/main" id="{58B864FF-48A7-4FC7-9DA4-6CACD8C28A81}"/>
              </a:ext>
            </a:extLst>
          </p:cNvPr>
          <p:cNvSpPr>
            <a:spLocks xmlns:a="http://schemas.openxmlformats.org/drawingml/2006/main" noGrp="1"/>
          </p:cNvSpPr>
          <p:nvPr/>
        </p:nvSpPr>
        <p:spPr>
          <a:xfrm xmlns:a="http://schemas.openxmlformats.org/drawingml/2006/main">
            <a:off x="1228725" y="2876550"/>
            <a:ext cx="533400" cy="533400"/>
          </a:xfrm>
          <a:prstGeom xmlns:a="http://schemas.openxmlformats.org/drawingml/2006/main" prst="ellipse">
            <a:avLst/>
          </a:prstGeom>
          <a:solidFill xmlns:a="http://schemas.openxmlformats.org/drawingml/2006/main">
            <a:srgbClr val="F5F3EE"/>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245B50"/>
                </a:solidFill>
                <a:latin typeface="Arial"/>
                <a:ea typeface="Arial"/>
                <a:cs typeface="Arial"/>
              </a:defRPr>
            </a:pPr>
            <a:r>
              <a:rPr sz="1650" b="1">
                <a:solidFill>
                  <a:srgbClr val="245B50"/>
                </a:solidFill>
                <a:latin typeface="Arial"/>
                <a:ea typeface="Arial"/>
                <a:cs typeface="Arial"/>
              </a:rPr>
              <a:t>1</a:t>
            </a:r>
          </a:p>
        </p:txBody>
      </p:sp>
      <p:sp>
        <p:nvSpPr>
          <p:cNvPr id="9" name="journey-title-0">
            <a:extLst xmlns:a="http://schemas.openxmlformats.org/drawingml/2006/main">
              <a:ext uri="{FF2B5EF4-FFF2-40B4-BE49-F238E27FC236}">
                <a16:creationId xmlns:a16="http://schemas.microsoft.com/office/drawing/2014/main" id="{6232BD67-B8CE-4485-B3F7-2D251F8AE2CA}"/>
              </a:ext>
            </a:extLst>
          </p:cNvPr>
          <p:cNvSpPr>
            <a:spLocks xmlns:a="http://schemas.openxmlformats.org/drawingml/2006/main" noGrp="1"/>
          </p:cNvSpPr>
          <p:nvPr/>
        </p:nvSpPr>
        <p:spPr>
          <a:xfrm xmlns:a="http://schemas.openxmlformats.org/drawingml/2006/main">
            <a:off x="542925"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Search</a:t>
            </a:r>
          </a:p>
        </p:txBody>
      </p:sp>
      <p:sp>
        <p:nvSpPr>
          <p:cNvPr id="10" name="journey-detail-0">
            <a:extLst xmlns:a="http://schemas.openxmlformats.org/drawingml/2006/main">
              <a:ext uri="{FF2B5EF4-FFF2-40B4-BE49-F238E27FC236}">
                <a16:creationId xmlns:a16="http://schemas.microsoft.com/office/drawing/2014/main" id="{28318232-575B-4F8D-9D26-B5DFBBCEDB97}"/>
              </a:ext>
            </a:extLst>
          </p:cNvPr>
          <p:cNvSpPr>
            <a:spLocks xmlns:a="http://schemas.openxmlformats.org/drawingml/2006/main" noGrp="1"/>
          </p:cNvSpPr>
          <p:nvPr/>
        </p:nvSpPr>
        <p:spPr>
          <a:xfrm xmlns:a="http://schemas.openxmlformats.org/drawingml/2006/main">
            <a:off x="495300" y="4105275"/>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718085"/>
                </a:solidFill>
                <a:latin typeface="Arial"/>
                <a:ea typeface="Arial"/>
                <a:cs typeface="Arial"/>
              </a:defRPr>
            </a:pPr>
            <a:r>
              <a:rPr sz="975" b="0" i="0">
                <a:solidFill>
                  <a:srgbClr val="718085"/>
                </a:solidFill>
                <a:latin typeface="Arial"/>
                <a:ea typeface="Arial"/>
                <a:cs typeface="Arial"/>
              </a:rPr>
              <a:t>Route · date · travellers</a:t>
            </a:r>
          </a:p>
        </p:txBody>
      </p:sp>
      <p:sp>
        <p:nvSpPr>
          <p:cNvPr id="11" name="journey-step-2">
            <a:extLst xmlns:a="http://schemas.openxmlformats.org/drawingml/2006/main">
              <a:ext uri="{FF2B5EF4-FFF2-40B4-BE49-F238E27FC236}">
                <a16:creationId xmlns:a16="http://schemas.microsoft.com/office/drawing/2014/main" id="{FE53575D-2612-4585-BE1E-F3B57FAB3D11}"/>
              </a:ext>
            </a:extLst>
          </p:cNvPr>
          <p:cNvSpPr>
            <a:spLocks xmlns:a="http://schemas.openxmlformats.org/drawingml/2006/main" noGrp="1"/>
          </p:cNvSpPr>
          <p:nvPr/>
        </p:nvSpPr>
        <p:spPr>
          <a:xfrm xmlns:a="http://schemas.openxmlformats.org/drawingml/2006/main">
            <a:off x="3524250" y="2876550"/>
            <a:ext cx="533400" cy="533400"/>
          </a:xfrm>
          <a:prstGeom xmlns:a="http://schemas.openxmlformats.org/drawingml/2006/main" prst="ellipse">
            <a:avLst/>
          </a:prstGeom>
          <a:solidFill xmlns:a="http://schemas.openxmlformats.org/drawingml/2006/main">
            <a:srgbClr val="F5F3EE"/>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245B50"/>
                </a:solidFill>
                <a:latin typeface="Arial"/>
                <a:ea typeface="Arial"/>
                <a:cs typeface="Arial"/>
              </a:defRPr>
            </a:pPr>
            <a:r>
              <a:rPr sz="1650" b="1">
                <a:solidFill>
                  <a:srgbClr val="245B50"/>
                </a:solidFill>
                <a:latin typeface="Arial"/>
                <a:ea typeface="Arial"/>
                <a:cs typeface="Arial"/>
              </a:rPr>
              <a:t>2</a:t>
            </a:r>
          </a:p>
        </p:txBody>
      </p:sp>
      <p:sp>
        <p:nvSpPr>
          <p:cNvPr id="12" name="journey-title-1">
            <a:extLst xmlns:a="http://schemas.openxmlformats.org/drawingml/2006/main">
              <a:ext uri="{FF2B5EF4-FFF2-40B4-BE49-F238E27FC236}">
                <a16:creationId xmlns:a16="http://schemas.microsoft.com/office/drawing/2014/main" id="{2DC639F6-6593-4FB7-BEAB-E468D665B1BD}"/>
              </a:ext>
            </a:extLst>
          </p:cNvPr>
          <p:cNvSpPr>
            <a:spLocks xmlns:a="http://schemas.openxmlformats.org/drawingml/2006/main" noGrp="1"/>
          </p:cNvSpPr>
          <p:nvPr/>
        </p:nvSpPr>
        <p:spPr>
          <a:xfrm xmlns:a="http://schemas.openxmlformats.org/drawingml/2006/main">
            <a:off x="2838450"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Compare</a:t>
            </a:r>
          </a:p>
        </p:txBody>
      </p:sp>
      <p:sp>
        <p:nvSpPr>
          <p:cNvPr id="13" name="journey-detail-1">
            <a:extLst xmlns:a="http://schemas.openxmlformats.org/drawingml/2006/main">
              <a:ext uri="{FF2B5EF4-FFF2-40B4-BE49-F238E27FC236}">
                <a16:creationId xmlns:a16="http://schemas.microsoft.com/office/drawing/2014/main" id="{6400512C-2A67-4FC9-BD47-92115DC631A3}"/>
              </a:ext>
            </a:extLst>
          </p:cNvPr>
          <p:cNvSpPr>
            <a:spLocks xmlns:a="http://schemas.openxmlformats.org/drawingml/2006/main" noGrp="1"/>
          </p:cNvSpPr>
          <p:nvPr/>
        </p:nvSpPr>
        <p:spPr>
          <a:xfrm xmlns:a="http://schemas.openxmlformats.org/drawingml/2006/main">
            <a:off x="2790825" y="4105275"/>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718085"/>
                </a:solidFill>
                <a:latin typeface="Arial"/>
                <a:ea typeface="Arial"/>
                <a:cs typeface="Arial"/>
              </a:defRPr>
            </a:pPr>
            <a:r>
              <a:rPr sz="975" b="0" i="0">
                <a:solidFill>
                  <a:srgbClr val="718085"/>
                </a:solidFill>
                <a:latin typeface="Arial"/>
                <a:ea typeface="Arial"/>
                <a:cs typeface="Arial"/>
              </a:rPr>
              <a:t>Times · fare · class</a:t>
            </a:r>
          </a:p>
        </p:txBody>
      </p:sp>
      <p:sp>
        <p:nvSpPr>
          <p:cNvPr id="14" name="journey-step-3">
            <a:extLst xmlns:a="http://schemas.openxmlformats.org/drawingml/2006/main">
              <a:ext uri="{FF2B5EF4-FFF2-40B4-BE49-F238E27FC236}">
                <a16:creationId xmlns:a16="http://schemas.microsoft.com/office/drawing/2014/main" id="{EE5CCBD6-62B5-4E29-B6AB-57ABF551F8EE}"/>
              </a:ext>
            </a:extLst>
          </p:cNvPr>
          <p:cNvSpPr>
            <a:spLocks xmlns:a="http://schemas.openxmlformats.org/drawingml/2006/main" noGrp="1"/>
          </p:cNvSpPr>
          <p:nvPr/>
        </p:nvSpPr>
        <p:spPr>
          <a:xfrm xmlns:a="http://schemas.openxmlformats.org/drawingml/2006/main">
            <a:off x="5829300" y="2876550"/>
            <a:ext cx="533400" cy="533400"/>
          </a:xfrm>
          <a:prstGeom xmlns:a="http://schemas.openxmlformats.org/drawingml/2006/main" prst="ellipse">
            <a:avLst/>
          </a:prstGeom>
          <a:solidFill xmlns:a="http://schemas.openxmlformats.org/drawingml/2006/main">
            <a:srgbClr val="F5F3EE"/>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245B50"/>
                </a:solidFill>
                <a:latin typeface="Arial"/>
                <a:ea typeface="Arial"/>
                <a:cs typeface="Arial"/>
              </a:defRPr>
            </a:pPr>
            <a:r>
              <a:rPr sz="1650" b="1">
                <a:solidFill>
                  <a:srgbClr val="245B50"/>
                </a:solidFill>
                <a:latin typeface="Arial"/>
                <a:ea typeface="Arial"/>
                <a:cs typeface="Arial"/>
              </a:rPr>
              <a:t>3</a:t>
            </a:r>
          </a:p>
        </p:txBody>
      </p:sp>
      <p:sp>
        <p:nvSpPr>
          <p:cNvPr id="15" name="journey-title-2">
            <a:extLst xmlns:a="http://schemas.openxmlformats.org/drawingml/2006/main">
              <a:ext uri="{FF2B5EF4-FFF2-40B4-BE49-F238E27FC236}">
                <a16:creationId xmlns:a16="http://schemas.microsoft.com/office/drawing/2014/main" id="{C4907F43-B107-4B35-B858-BFEBF18866A2}"/>
              </a:ext>
            </a:extLst>
          </p:cNvPr>
          <p:cNvSpPr>
            <a:spLocks xmlns:a="http://schemas.openxmlformats.org/drawingml/2006/main" noGrp="1"/>
          </p:cNvSpPr>
          <p:nvPr/>
        </p:nvSpPr>
        <p:spPr>
          <a:xfrm xmlns:a="http://schemas.openxmlformats.org/drawingml/2006/main">
            <a:off x="5143500"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Choose seats</a:t>
            </a:r>
          </a:p>
        </p:txBody>
      </p:sp>
      <p:sp>
        <p:nvSpPr>
          <p:cNvPr id="16" name="journey-detail-2">
            <a:extLst xmlns:a="http://schemas.openxmlformats.org/drawingml/2006/main">
              <a:ext uri="{FF2B5EF4-FFF2-40B4-BE49-F238E27FC236}">
                <a16:creationId xmlns:a16="http://schemas.microsoft.com/office/drawing/2014/main" id="{1EA3EA1E-AB0A-43A6-8884-A03CE1E45571}"/>
              </a:ext>
            </a:extLst>
          </p:cNvPr>
          <p:cNvSpPr>
            <a:spLocks xmlns:a="http://schemas.openxmlformats.org/drawingml/2006/main" noGrp="1"/>
          </p:cNvSpPr>
          <p:nvPr/>
        </p:nvSpPr>
        <p:spPr>
          <a:xfrm xmlns:a="http://schemas.openxmlformats.org/drawingml/2006/main">
            <a:off x="5095875" y="4105275"/>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718085"/>
                </a:solidFill>
                <a:latin typeface="Arial"/>
                <a:ea typeface="Arial"/>
                <a:cs typeface="Arial"/>
              </a:defRPr>
            </a:pPr>
            <a:r>
              <a:rPr sz="975" b="0" i="0">
                <a:solidFill>
                  <a:srgbClr val="718085"/>
                </a:solidFill>
                <a:latin typeface="Arial"/>
                <a:ea typeface="Arial"/>
                <a:cs typeface="Arial"/>
              </a:rPr>
              <a:t>Select available seats</a:t>
            </a:r>
          </a:p>
        </p:txBody>
      </p:sp>
      <p:sp>
        <p:nvSpPr>
          <p:cNvPr id="17" name="journey-step-4">
            <a:extLst xmlns:a="http://schemas.openxmlformats.org/drawingml/2006/main">
              <a:ext uri="{FF2B5EF4-FFF2-40B4-BE49-F238E27FC236}">
                <a16:creationId xmlns:a16="http://schemas.microsoft.com/office/drawing/2014/main" id="{82FBDE45-ADC6-4119-BD69-739292FE0F2D}"/>
              </a:ext>
            </a:extLst>
          </p:cNvPr>
          <p:cNvSpPr>
            <a:spLocks xmlns:a="http://schemas.openxmlformats.org/drawingml/2006/main" noGrp="1"/>
          </p:cNvSpPr>
          <p:nvPr/>
        </p:nvSpPr>
        <p:spPr>
          <a:xfrm xmlns:a="http://schemas.openxmlformats.org/drawingml/2006/main">
            <a:off x="8134350" y="2876550"/>
            <a:ext cx="533400" cy="533400"/>
          </a:xfrm>
          <a:prstGeom xmlns:a="http://schemas.openxmlformats.org/drawingml/2006/main" prst="ellipse">
            <a:avLst/>
          </a:prstGeom>
          <a:solidFill xmlns:a="http://schemas.openxmlformats.org/drawingml/2006/main">
            <a:srgbClr val="F5F3EE"/>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245B50"/>
                </a:solidFill>
                <a:latin typeface="Arial"/>
                <a:ea typeface="Arial"/>
                <a:cs typeface="Arial"/>
              </a:defRPr>
            </a:pPr>
            <a:r>
              <a:rPr sz="1650" b="1">
                <a:solidFill>
                  <a:srgbClr val="245B50"/>
                </a:solidFill>
                <a:latin typeface="Arial"/>
                <a:ea typeface="Arial"/>
                <a:cs typeface="Arial"/>
              </a:rPr>
              <a:t>4</a:t>
            </a:r>
          </a:p>
        </p:txBody>
      </p:sp>
      <p:sp>
        <p:nvSpPr>
          <p:cNvPr id="18" name="journey-title-3">
            <a:extLst xmlns:a="http://schemas.openxmlformats.org/drawingml/2006/main">
              <a:ext uri="{FF2B5EF4-FFF2-40B4-BE49-F238E27FC236}">
                <a16:creationId xmlns:a16="http://schemas.microsoft.com/office/drawing/2014/main" id="{0C7B3B27-1929-4F74-8E04-236A871EE39E}"/>
              </a:ext>
            </a:extLst>
          </p:cNvPr>
          <p:cNvSpPr>
            <a:spLocks xmlns:a="http://schemas.openxmlformats.org/drawingml/2006/main" noGrp="1"/>
          </p:cNvSpPr>
          <p:nvPr/>
        </p:nvSpPr>
        <p:spPr>
          <a:xfrm xmlns:a="http://schemas.openxmlformats.org/drawingml/2006/main">
            <a:off x="7448550"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Add passengers</a:t>
            </a:r>
          </a:p>
        </p:txBody>
      </p:sp>
      <p:sp>
        <p:nvSpPr>
          <p:cNvPr id="19" name="journey-detail-3">
            <a:extLst xmlns:a="http://schemas.openxmlformats.org/drawingml/2006/main">
              <a:ext uri="{FF2B5EF4-FFF2-40B4-BE49-F238E27FC236}">
                <a16:creationId xmlns:a16="http://schemas.microsoft.com/office/drawing/2014/main" id="{23B45786-DC56-42D8-8A91-62A2E9376F44}"/>
              </a:ext>
            </a:extLst>
          </p:cNvPr>
          <p:cNvSpPr>
            <a:spLocks xmlns:a="http://schemas.openxmlformats.org/drawingml/2006/main" noGrp="1"/>
          </p:cNvSpPr>
          <p:nvPr/>
        </p:nvSpPr>
        <p:spPr>
          <a:xfrm xmlns:a="http://schemas.openxmlformats.org/drawingml/2006/main">
            <a:off x="7400925" y="4105275"/>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718085"/>
                </a:solidFill>
                <a:latin typeface="Arial"/>
                <a:ea typeface="Arial"/>
                <a:cs typeface="Arial"/>
              </a:defRPr>
            </a:pPr>
            <a:r>
              <a:rPr sz="975" b="0" i="0">
                <a:solidFill>
                  <a:srgbClr val="718085"/>
                </a:solidFill>
                <a:latin typeface="Arial"/>
                <a:ea typeface="Arial"/>
                <a:cs typeface="Arial"/>
              </a:rPr>
              <a:t>Validate sample details</a:t>
            </a:r>
          </a:p>
        </p:txBody>
      </p:sp>
      <p:sp>
        <p:nvSpPr>
          <p:cNvPr id="20" name="journey-step-5">
            <a:extLst xmlns:a="http://schemas.openxmlformats.org/drawingml/2006/main">
              <a:ext uri="{FF2B5EF4-FFF2-40B4-BE49-F238E27FC236}">
                <a16:creationId xmlns:a16="http://schemas.microsoft.com/office/drawing/2014/main" id="{E7FA07EA-A623-4324-BFE2-6D8F7712BA04}"/>
              </a:ext>
            </a:extLst>
          </p:cNvPr>
          <p:cNvSpPr>
            <a:spLocks xmlns:a="http://schemas.openxmlformats.org/drawingml/2006/main" noGrp="1"/>
          </p:cNvSpPr>
          <p:nvPr/>
        </p:nvSpPr>
        <p:spPr>
          <a:xfrm xmlns:a="http://schemas.openxmlformats.org/drawingml/2006/main">
            <a:off x="10429875" y="2876550"/>
            <a:ext cx="533400" cy="533400"/>
          </a:xfrm>
          <a:prstGeom xmlns:a="http://schemas.openxmlformats.org/drawingml/2006/main" prst="ellipse">
            <a:avLst/>
          </a:prstGeom>
          <a:solidFill xmlns:a="http://schemas.openxmlformats.org/drawingml/2006/main">
            <a:srgbClr val="245B50"/>
          </a:solidFill>
          <a:ln xmlns:a="http://schemas.openxmlformats.org/drawingml/2006/main" w="19050">
            <a:solidFill>
              <a:srgbClr val="245B5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FFEFA"/>
                </a:solidFill>
                <a:latin typeface="Arial"/>
                <a:ea typeface="Arial"/>
                <a:cs typeface="Arial"/>
              </a:defRPr>
            </a:pPr>
            <a:r>
              <a:rPr sz="1650" b="1">
                <a:solidFill>
                  <a:srgbClr val="FFFEFA"/>
                </a:solidFill>
                <a:latin typeface="Arial"/>
                <a:ea typeface="Arial"/>
                <a:cs typeface="Arial"/>
              </a:rPr>
              <a:t>5</a:t>
            </a:r>
          </a:p>
        </p:txBody>
      </p:sp>
      <p:sp>
        <p:nvSpPr>
          <p:cNvPr id="21" name="journey-title-4">
            <a:extLst xmlns:a="http://schemas.openxmlformats.org/drawingml/2006/main">
              <a:ext uri="{FF2B5EF4-FFF2-40B4-BE49-F238E27FC236}">
                <a16:creationId xmlns:a16="http://schemas.microsoft.com/office/drawing/2014/main" id="{6EF6B7CB-29B7-4901-9AD0-48B21E30D0D3}"/>
              </a:ext>
            </a:extLst>
          </p:cNvPr>
          <p:cNvSpPr>
            <a:spLocks xmlns:a="http://schemas.openxmlformats.org/drawingml/2006/main" noGrp="1"/>
          </p:cNvSpPr>
          <p:nvPr/>
        </p:nvSpPr>
        <p:spPr>
          <a:xfrm xmlns:a="http://schemas.openxmlformats.org/drawingml/2006/main">
            <a:off x="9744075" y="3705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172D34"/>
                </a:solidFill>
                <a:latin typeface="Arial"/>
                <a:ea typeface="Arial"/>
                <a:cs typeface="Arial"/>
              </a:defRPr>
            </a:pPr>
            <a:r>
              <a:rPr sz="1575" b="1" i="0">
                <a:solidFill>
                  <a:srgbClr val="172D34"/>
                </a:solidFill>
                <a:latin typeface="Arial"/>
                <a:ea typeface="Arial"/>
                <a:cs typeface="Arial"/>
              </a:rPr>
              <a:t>Save demo</a:t>
            </a:r>
          </a:p>
        </p:txBody>
      </p:sp>
      <p:sp>
        <p:nvSpPr>
          <p:cNvPr id="22" name="journey-detail-4">
            <a:extLst xmlns:a="http://schemas.openxmlformats.org/drawingml/2006/main">
              <a:ext uri="{FF2B5EF4-FFF2-40B4-BE49-F238E27FC236}">
                <a16:creationId xmlns:a16="http://schemas.microsoft.com/office/drawing/2014/main" id="{D34BB020-5455-45B4-B05F-D9D92AEA7C44}"/>
              </a:ext>
            </a:extLst>
          </p:cNvPr>
          <p:cNvSpPr>
            <a:spLocks xmlns:a="http://schemas.openxmlformats.org/drawingml/2006/main" noGrp="1"/>
          </p:cNvSpPr>
          <p:nvPr/>
        </p:nvSpPr>
        <p:spPr>
          <a:xfrm xmlns:a="http://schemas.openxmlformats.org/drawingml/2006/main">
            <a:off x="9696450" y="4105275"/>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718085"/>
                </a:solidFill>
                <a:latin typeface="Arial"/>
                <a:ea typeface="Arial"/>
                <a:cs typeface="Arial"/>
              </a:defRPr>
            </a:pPr>
            <a:r>
              <a:rPr sz="975" b="0" i="0">
                <a:solidFill>
                  <a:srgbClr val="718085"/>
                </a:solidFill>
                <a:latin typeface="Arial"/>
                <a:ea typeface="Arial"/>
                <a:cs typeface="Arial"/>
              </a:rPr>
              <a:t>Keep the trip in browser</a:t>
            </a:r>
          </a:p>
        </p:txBody>
      </p:sp>
      <p:sp>
        <p:nvSpPr>
          <p:cNvPr id="23" name="">
            <a:extLst xmlns:a="http://schemas.openxmlformats.org/drawingml/2006/main">
              <a:ext uri="{FF2B5EF4-FFF2-40B4-BE49-F238E27FC236}">
                <a16:creationId xmlns:a16="http://schemas.microsoft.com/office/drawing/2014/main" id="{D7D2488B-12C8-4C80-84B8-E9DB568B37CF}"/>
              </a:ext>
            </a:extLst>
          </p:cNvPr>
          <p:cNvSpPr>
            <a:spLocks xmlns:a="http://schemas.openxmlformats.org/drawingml/2006/main" noGrp="1"/>
          </p:cNvSpPr>
          <p:nvPr/>
        </p:nvSpPr>
        <p:spPr>
          <a:xfrm xmlns:a="http://schemas.openxmlformats.org/drawingml/2006/main">
            <a:off x="685800" y="5143500"/>
            <a:ext cx="1082040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24" name="journey-rule">
            <a:extLst xmlns:a="http://schemas.openxmlformats.org/drawingml/2006/main">
              <a:ext uri="{FF2B5EF4-FFF2-40B4-BE49-F238E27FC236}">
                <a16:creationId xmlns:a16="http://schemas.microsoft.com/office/drawing/2014/main" id="{FB3EB005-200B-431A-B0A6-DE8F2A6638FD}"/>
              </a:ext>
            </a:extLst>
          </p:cNvPr>
          <p:cNvSpPr>
            <a:spLocks xmlns:a="http://schemas.openxmlformats.org/drawingml/2006/main" noGrp="1"/>
          </p:cNvSpPr>
          <p:nvPr/>
        </p:nvSpPr>
        <p:spPr>
          <a:xfrm xmlns:a="http://schemas.openxmlformats.org/drawingml/2006/main">
            <a:off x="685800" y="536257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245B50"/>
                </a:solidFill>
                <a:latin typeface="Arial"/>
                <a:ea typeface="Arial"/>
                <a:cs typeface="Arial"/>
              </a:defRPr>
            </a:pPr>
            <a:r>
              <a:rPr sz="1275" b="0" i="0">
                <a:solidFill>
                  <a:srgbClr val="245B50"/>
                </a:solidFill>
                <a:latin typeface="Arial"/>
                <a:ea typeface="Arial"/>
                <a:cs typeface="Arial"/>
              </a:rPr>
              <a:t>The seat map and fare summary update before passenger details are submitted.</a:t>
            </a:r>
          </a:p>
        </p:txBody>
      </p:sp>
    </p:spTree>
    <p:extLst>
      <p:ext uri="{BB962C8B-B14F-4D97-AF65-F5344CB8AC3E}">
        <p14:creationId xmlns:p14="http://schemas.microsoft.com/office/powerpoint/2010/main" val="934512151"/>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161D744E-22E1-4F7B-A750-1F7C38F83E2A}"/>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TRAIN DISCOVERY</a:t>
            </a:r>
          </a:p>
        </p:txBody>
      </p:sp>
      <p:sp>
        <p:nvSpPr>
          <p:cNvPr id="2" name="slide-title">
            <a:extLst xmlns:a="http://schemas.openxmlformats.org/drawingml/2006/main">
              <a:ext uri="{FF2B5EF4-FFF2-40B4-BE49-F238E27FC236}">
                <a16:creationId xmlns:a16="http://schemas.microsoft.com/office/drawing/2014/main" id="{868084E4-FB80-44EA-A006-E5519BF4114C}"/>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Search the sample timetable.</a:t>
            </a:r>
          </a:p>
        </p:txBody>
      </p:sp>
      <p:sp>
        <p:nvSpPr>
          <p:cNvPr id="3" name="slide-subtitle">
            <a:extLst xmlns:a="http://schemas.openxmlformats.org/drawingml/2006/main">
              <a:ext uri="{FF2B5EF4-FFF2-40B4-BE49-F238E27FC236}">
                <a16:creationId xmlns:a16="http://schemas.microsoft.com/office/drawing/2014/main" id="{7B512928-B9AB-488F-B1F0-A23BC0D14614}"/>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Routes come from the stop sequences stored in the JavaScript data.</a:t>
            </a:r>
          </a:p>
        </p:txBody>
      </p:sp>
      <p:sp>
        <p:nvSpPr>
          <p:cNvPr id="4" name="search-point-1-label">
            <a:extLst xmlns:a="http://schemas.openxmlformats.org/drawingml/2006/main">
              <a:ext uri="{FF2B5EF4-FFF2-40B4-BE49-F238E27FC236}">
                <a16:creationId xmlns:a16="http://schemas.microsoft.com/office/drawing/2014/main" id="{1EC59745-6A2D-440C-8FB5-2E55069490AB}"/>
              </a:ext>
            </a:extLst>
          </p:cNvPr>
          <p:cNvSpPr>
            <a:spLocks xmlns:a="http://schemas.openxmlformats.org/drawingml/2006/main" noGrp="1"/>
          </p:cNvSpPr>
          <p:nvPr/>
        </p:nvSpPr>
        <p:spPr>
          <a:xfrm xmlns:a="http://schemas.openxmlformats.org/drawingml/2006/main">
            <a:off x="704850" y="23431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MATCH</a:t>
            </a:r>
          </a:p>
        </p:txBody>
      </p:sp>
      <p:sp>
        <p:nvSpPr>
          <p:cNvPr id="5" name="search-point-1">
            <a:extLst xmlns:a="http://schemas.openxmlformats.org/drawingml/2006/main">
              <a:ext uri="{FF2B5EF4-FFF2-40B4-BE49-F238E27FC236}">
                <a16:creationId xmlns:a16="http://schemas.microsoft.com/office/drawing/2014/main" id="{BC8B693D-A368-404B-BFD2-D75AC0CE6931}"/>
              </a:ext>
            </a:extLst>
          </p:cNvPr>
          <p:cNvSpPr>
            <a:spLocks xmlns:a="http://schemas.openxmlformats.org/drawingml/2006/main" noGrp="1"/>
          </p:cNvSpPr>
          <p:nvPr/>
        </p:nvSpPr>
        <p:spPr>
          <a:xfrm xmlns:a="http://schemas.openxmlformats.org/drawingml/2006/main">
            <a:off x="704850" y="2609850"/>
            <a:ext cx="4048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172D34"/>
                </a:solidFill>
                <a:latin typeface="Arial"/>
                <a:ea typeface="Arial"/>
                <a:cs typeface="Arial"/>
              </a:defRPr>
            </a:pPr>
            <a:r>
              <a:rPr sz="1500" b="0" i="0">
                <a:solidFill>
                  <a:srgbClr val="172D34"/>
                </a:solidFill>
                <a:latin typeface="Arial"/>
                <a:ea typeface="Arial"/>
                <a:cs typeface="Arial"/>
              </a:rPr>
              <a:t>Only trains that serve both selected stations appear.</a:t>
            </a:r>
          </a:p>
        </p:txBody>
      </p:sp>
      <p:sp>
        <p:nvSpPr>
          <p:cNvPr id="6" name="">
            <a:extLst xmlns:a="http://schemas.openxmlformats.org/drawingml/2006/main">
              <a:ext uri="{FF2B5EF4-FFF2-40B4-BE49-F238E27FC236}">
                <a16:creationId xmlns:a16="http://schemas.microsoft.com/office/drawing/2014/main" id="{9E0D9DD8-A981-45CF-BF99-EC5A08EF97C2}"/>
              </a:ext>
            </a:extLst>
          </p:cNvPr>
          <p:cNvSpPr>
            <a:spLocks xmlns:a="http://schemas.openxmlformats.org/drawingml/2006/main" noGrp="1"/>
          </p:cNvSpPr>
          <p:nvPr/>
        </p:nvSpPr>
        <p:spPr>
          <a:xfrm xmlns:a="http://schemas.openxmlformats.org/drawingml/2006/main">
            <a:off x="704850" y="3305175"/>
            <a:ext cx="4238625"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7" name="search-point-2-label">
            <a:extLst xmlns:a="http://schemas.openxmlformats.org/drawingml/2006/main">
              <a:ext uri="{FF2B5EF4-FFF2-40B4-BE49-F238E27FC236}">
                <a16:creationId xmlns:a16="http://schemas.microsoft.com/office/drawing/2014/main" id="{53F14378-5D98-4DA7-BE26-14134C3164C9}"/>
              </a:ext>
            </a:extLst>
          </p:cNvPr>
          <p:cNvSpPr>
            <a:spLocks xmlns:a="http://schemas.openxmlformats.org/drawingml/2006/main" noGrp="1"/>
          </p:cNvSpPr>
          <p:nvPr/>
        </p:nvSpPr>
        <p:spPr>
          <a:xfrm xmlns:a="http://schemas.openxmlformats.org/drawingml/2006/main">
            <a:off x="704850" y="35242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COMPARE</a:t>
            </a:r>
          </a:p>
        </p:txBody>
      </p:sp>
      <p:sp>
        <p:nvSpPr>
          <p:cNvPr id="8" name="search-point-2">
            <a:extLst xmlns:a="http://schemas.openxmlformats.org/drawingml/2006/main">
              <a:ext uri="{FF2B5EF4-FFF2-40B4-BE49-F238E27FC236}">
                <a16:creationId xmlns:a16="http://schemas.microsoft.com/office/drawing/2014/main" id="{D38F36B8-DB07-4F69-9823-26A2AFC9B0B7}"/>
              </a:ext>
            </a:extLst>
          </p:cNvPr>
          <p:cNvSpPr>
            <a:spLocks xmlns:a="http://schemas.openxmlformats.org/drawingml/2006/main" noGrp="1"/>
          </p:cNvSpPr>
          <p:nvPr/>
        </p:nvSpPr>
        <p:spPr>
          <a:xfrm xmlns:a="http://schemas.openxmlformats.org/drawingml/2006/main">
            <a:off x="704850" y="379095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172D34"/>
                </a:solidFill>
                <a:latin typeface="Arial"/>
                <a:ea typeface="Arial"/>
                <a:cs typeface="Arial"/>
              </a:defRPr>
            </a:pPr>
            <a:r>
              <a:rPr sz="1500" b="0" i="0">
                <a:solidFill>
                  <a:srgbClr val="172D34"/>
                </a:solidFill>
                <a:latin typeface="Arial"/>
                <a:ea typeface="Arial"/>
                <a:cs typeface="Arial"/>
              </a:rPr>
              <a:t>Departure, arrival, journey length and starting fare are shown together.</a:t>
            </a:r>
          </a:p>
        </p:txBody>
      </p:sp>
      <p:sp>
        <p:nvSpPr>
          <p:cNvPr id="9" name="">
            <a:extLst xmlns:a="http://schemas.openxmlformats.org/drawingml/2006/main">
              <a:ext uri="{FF2B5EF4-FFF2-40B4-BE49-F238E27FC236}">
                <a16:creationId xmlns:a16="http://schemas.microsoft.com/office/drawing/2014/main" id="{32318387-3929-442C-A6AC-6644334DCB7A}"/>
              </a:ext>
            </a:extLst>
          </p:cNvPr>
          <p:cNvSpPr>
            <a:spLocks xmlns:a="http://schemas.openxmlformats.org/drawingml/2006/main" noGrp="1"/>
          </p:cNvSpPr>
          <p:nvPr/>
        </p:nvSpPr>
        <p:spPr>
          <a:xfrm xmlns:a="http://schemas.openxmlformats.org/drawingml/2006/main">
            <a:off x="704850" y="4591050"/>
            <a:ext cx="4238625"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0" name="search-point-3-label">
            <a:extLst xmlns:a="http://schemas.openxmlformats.org/drawingml/2006/main">
              <a:ext uri="{FF2B5EF4-FFF2-40B4-BE49-F238E27FC236}">
                <a16:creationId xmlns:a16="http://schemas.microsoft.com/office/drawing/2014/main" id="{6324217D-CCEA-4F1F-A094-CD6DED2C5AEF}"/>
              </a:ext>
            </a:extLst>
          </p:cNvPr>
          <p:cNvSpPr>
            <a:spLocks xmlns:a="http://schemas.openxmlformats.org/drawingml/2006/main" noGrp="1"/>
          </p:cNvSpPr>
          <p:nvPr/>
        </p:nvSpPr>
        <p:spPr>
          <a:xfrm xmlns:a="http://schemas.openxmlformats.org/drawingml/2006/main">
            <a:off x="704850" y="4800600"/>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REFINE</a:t>
            </a:r>
          </a:p>
        </p:txBody>
      </p:sp>
      <p:sp>
        <p:nvSpPr>
          <p:cNvPr id="11" name="search-point-3">
            <a:extLst xmlns:a="http://schemas.openxmlformats.org/drawingml/2006/main">
              <a:ext uri="{FF2B5EF4-FFF2-40B4-BE49-F238E27FC236}">
                <a16:creationId xmlns:a16="http://schemas.microsoft.com/office/drawing/2014/main" id="{72D97FC2-1FE4-499B-B1B9-F717BE5DA5D1}"/>
              </a:ext>
            </a:extLst>
          </p:cNvPr>
          <p:cNvSpPr>
            <a:spLocks xmlns:a="http://schemas.openxmlformats.org/drawingml/2006/main" noGrp="1"/>
          </p:cNvSpPr>
          <p:nvPr/>
        </p:nvSpPr>
        <p:spPr>
          <a:xfrm xmlns:a="http://schemas.openxmlformats.org/drawingml/2006/main">
            <a:off x="704850" y="5067300"/>
            <a:ext cx="419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172D34"/>
                </a:solidFill>
                <a:latin typeface="Arial"/>
                <a:ea typeface="Arial"/>
                <a:cs typeface="Arial"/>
              </a:defRPr>
            </a:pPr>
            <a:r>
              <a:rPr sz="1500" b="0" i="0">
                <a:solidFill>
                  <a:srgbClr val="172D34"/>
                </a:solidFill>
                <a:latin typeface="Arial"/>
                <a:ea typeface="Arial"/>
                <a:cs typeface="Arial"/>
              </a:rPr>
              <a:t>Sort by time, duration or fare; filter by class.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dc9b5726ad34645"/>
          <a:srcRect xmlns:a="http://schemas.openxmlformats.org/drawingml/2006/main" l="4199" t="0" r="4199" b="0"/>
          <a:stretch xmlns:a="http://schemas.openxmlformats.org/drawingml/2006/main">
            <a:fillRect l="0" t="0" r="0" b="0"/>
          </a:stretch>
        </p:blipFill>
        <p:spPr>
          <a:xfrm xmlns:a="http://schemas.openxmlformats.org/drawingml/2006/main">
            <a:off x="5553075" y="2209800"/>
            <a:ext cx="5953125" cy="3657600"/>
          </a:xfrm>
          <a:prstGeom xmlns:a="http://schemas.openxmlformats.org/drawingml/2006/main" prst="rect">
            <a:avLst/>
          </a:prstGeom>
        </p:spPr>
      </p:pic>
      <p:sp>
        <p:nvSpPr>
          <p:cNvPr id="13" name="search-image-caption">
            <a:extLst xmlns:a="http://schemas.openxmlformats.org/drawingml/2006/main">
              <a:ext uri="{FF2B5EF4-FFF2-40B4-BE49-F238E27FC236}">
                <a16:creationId xmlns:a16="http://schemas.microsoft.com/office/drawing/2014/main" id="{04D4D562-7D15-4299-AB99-B640CC8A9504}"/>
              </a:ext>
            </a:extLst>
          </p:cNvPr>
          <p:cNvSpPr>
            <a:spLocks xmlns:a="http://schemas.openxmlformats.org/drawingml/2006/main" noGrp="1"/>
          </p:cNvSpPr>
          <p:nvPr/>
        </p:nvSpPr>
        <p:spPr>
          <a:xfrm xmlns:a="http://schemas.openxmlformats.org/drawingml/2006/main">
            <a:off x="5581650" y="5953125"/>
            <a:ext cx="3810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718085"/>
                </a:solidFill>
                <a:latin typeface="Arial"/>
                <a:ea typeface="Arial"/>
                <a:cs typeface="Arial"/>
              </a:defRPr>
            </a:pPr>
            <a:r>
              <a:rPr sz="825" b="0" i="0">
                <a:solidFill>
                  <a:srgbClr val="718085"/>
                </a:solidFill>
                <a:latin typeface="Arial"/>
                <a:ea typeface="Arial"/>
                <a:cs typeface="Arial"/>
              </a:rPr>
              <a:t>Illustrative journey scene</a:t>
            </a:r>
          </a:p>
        </p:txBody>
      </p:sp>
    </p:spTree>
    <p:extLst>
      <p:ext uri="{BB962C8B-B14F-4D97-AF65-F5344CB8AC3E}">
        <p14:creationId xmlns:p14="http://schemas.microsoft.com/office/powerpoint/2010/main" val="1880095402"/>
      </p:ext>
    </p:extLst>
  </p:cSld>
</p:sld>
</file>

<file path=ppt/slides/slide5.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B3099C20-695A-4BC5-A7DF-1E0D4E56E848}"/>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SEATS AND PRICING</a:t>
            </a:r>
          </a:p>
        </p:txBody>
      </p:sp>
      <p:sp>
        <p:nvSpPr>
          <p:cNvPr id="2" name="slide-title">
            <a:extLst xmlns:a="http://schemas.openxmlformats.org/drawingml/2006/main">
              <a:ext uri="{FF2B5EF4-FFF2-40B4-BE49-F238E27FC236}">
                <a16:creationId xmlns:a16="http://schemas.microsoft.com/office/drawing/2014/main" id="{770901A7-76BF-42EF-A2F9-454979DB4EFA}"/>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Seat choice shapes the fare summary.</a:t>
            </a:r>
          </a:p>
        </p:txBody>
      </p:sp>
      <p:sp>
        <p:nvSpPr>
          <p:cNvPr id="3" name="slide-subtitle">
            <a:extLst xmlns:a="http://schemas.openxmlformats.org/drawingml/2006/main">
              <a:ext uri="{FF2B5EF4-FFF2-40B4-BE49-F238E27FC236}">
                <a16:creationId xmlns:a16="http://schemas.microsoft.com/office/drawing/2014/main" id="{82671AEB-1C4F-401F-A4B4-5BA2F3118014}"/>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The displayed total is calculated from route segments, coach class and traveller count.</a:t>
            </a:r>
          </a:p>
        </p:txBody>
      </p:sp>
      <p:sp>
        <p:nvSpPr>
          <p:cNvPr id="4" name="fare-expression-label">
            <a:extLst xmlns:a="http://schemas.openxmlformats.org/drawingml/2006/main">
              <a:ext uri="{FF2B5EF4-FFF2-40B4-BE49-F238E27FC236}">
                <a16:creationId xmlns:a16="http://schemas.microsoft.com/office/drawing/2014/main" id="{C6B72E95-8526-4E54-83B8-BE9412BC60BF}"/>
              </a:ext>
            </a:extLst>
          </p:cNvPr>
          <p:cNvSpPr>
            <a:spLocks xmlns:a="http://schemas.openxmlformats.org/drawingml/2006/main" noGrp="1"/>
          </p:cNvSpPr>
          <p:nvPr/>
        </p:nvSpPr>
        <p:spPr>
          <a:xfrm xmlns:a="http://schemas.openxmlformats.org/drawingml/2006/main">
            <a:off x="695325" y="23336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PER-TRAVELLER FARE</a:t>
            </a:r>
          </a:p>
        </p:txBody>
      </p:sp>
      <p:sp>
        <p:nvSpPr>
          <p:cNvPr id="5" name="fare-expression">
            <a:extLst xmlns:a="http://schemas.openxmlformats.org/drawingml/2006/main">
              <a:ext uri="{FF2B5EF4-FFF2-40B4-BE49-F238E27FC236}">
                <a16:creationId xmlns:a16="http://schemas.microsoft.com/office/drawing/2014/main" id="{867383BA-8196-4EFF-B494-164F24820595}"/>
              </a:ext>
            </a:extLst>
          </p:cNvPr>
          <p:cNvSpPr>
            <a:spLocks xmlns:a="http://schemas.openxmlformats.org/drawingml/2006/main" noGrp="1"/>
          </p:cNvSpPr>
          <p:nvPr/>
        </p:nvSpPr>
        <p:spPr>
          <a:xfrm xmlns:a="http://schemas.openxmlformats.org/drawingml/2006/main">
            <a:off x="685800" y="2714625"/>
            <a:ext cx="10620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i="0">
                <a:solidFill>
                  <a:srgbClr val="172D34"/>
                </a:solidFill>
                <a:latin typeface="Arial"/>
                <a:ea typeface="Arial"/>
                <a:cs typeface="Arial"/>
              </a:defRPr>
            </a:pPr>
            <a:r>
              <a:rPr sz="2775" b="1" i="0">
                <a:solidFill>
                  <a:srgbClr val="172D34"/>
                </a:solidFill>
                <a:latin typeface="Arial"/>
                <a:ea typeface="Arial"/>
                <a:cs typeface="Arial"/>
              </a:rPr>
              <a:t>round( segment fares × class factor )</a:t>
            </a:r>
          </a:p>
        </p:txBody>
      </p:sp>
      <p:sp>
        <p:nvSpPr>
          <p:cNvPr id="6" name="">
            <a:extLst xmlns:a="http://schemas.openxmlformats.org/drawingml/2006/main">
              <a:ext uri="{FF2B5EF4-FFF2-40B4-BE49-F238E27FC236}">
                <a16:creationId xmlns:a16="http://schemas.microsoft.com/office/drawing/2014/main" id="{25DAA4F5-F48D-4BA5-8C47-FCC690AF5D17}"/>
              </a:ext>
            </a:extLst>
          </p:cNvPr>
          <p:cNvSpPr>
            <a:spLocks xmlns:a="http://schemas.openxmlformats.org/drawingml/2006/main" noGrp="1"/>
          </p:cNvSpPr>
          <p:nvPr/>
        </p:nvSpPr>
        <p:spPr>
          <a:xfrm xmlns:a="http://schemas.openxmlformats.org/drawingml/2006/main">
            <a:off x="704850" y="3524250"/>
            <a:ext cx="10782300" cy="1905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7" name="fare-multipliers-label">
            <a:extLst xmlns:a="http://schemas.openxmlformats.org/drawingml/2006/main">
              <a:ext uri="{FF2B5EF4-FFF2-40B4-BE49-F238E27FC236}">
                <a16:creationId xmlns:a16="http://schemas.microsoft.com/office/drawing/2014/main" id="{868EB901-0C27-4ECC-97A5-A97D5B22650E}"/>
              </a:ext>
            </a:extLst>
          </p:cNvPr>
          <p:cNvSpPr>
            <a:spLocks xmlns:a="http://schemas.openxmlformats.org/drawingml/2006/main" noGrp="1"/>
          </p:cNvSpPr>
          <p:nvPr/>
        </p:nvSpPr>
        <p:spPr>
          <a:xfrm xmlns:a="http://schemas.openxmlformats.org/drawingml/2006/main">
            <a:off x="695325" y="378142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SAMPLE CLASS FACTORS</a:t>
            </a:r>
          </a:p>
        </p:txBody>
      </p:sp>
      <p:sp>
        <p:nvSpPr>
          <p:cNvPr id="8" name="class-AC 2 Tier">
            <a:extLst xmlns:a="http://schemas.openxmlformats.org/drawingml/2006/main">
              <a:ext uri="{FF2B5EF4-FFF2-40B4-BE49-F238E27FC236}">
                <a16:creationId xmlns:a16="http://schemas.microsoft.com/office/drawing/2014/main" id="{86456CEB-6484-47F6-9BA4-3762A654C4C3}"/>
              </a:ext>
            </a:extLst>
          </p:cNvPr>
          <p:cNvSpPr>
            <a:spLocks xmlns:a="http://schemas.openxmlformats.org/drawingml/2006/main" noGrp="1"/>
          </p:cNvSpPr>
          <p:nvPr/>
        </p:nvSpPr>
        <p:spPr>
          <a:xfrm xmlns:a="http://schemas.openxmlformats.org/drawingml/2006/main">
            <a:off x="704850" y="4162425"/>
            <a:ext cx="228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72D34"/>
                </a:solidFill>
                <a:latin typeface="Arial"/>
                <a:ea typeface="Arial"/>
                <a:cs typeface="Arial"/>
              </a:defRPr>
            </a:pPr>
            <a:r>
              <a:rPr sz="1725" b="1" i="0">
                <a:solidFill>
                  <a:srgbClr val="172D34"/>
                </a:solidFill>
                <a:latin typeface="Arial"/>
                <a:ea typeface="Arial"/>
                <a:cs typeface="Arial"/>
              </a:rPr>
              <a:t>AC 2 Tier</a:t>
            </a:r>
          </a:p>
        </p:txBody>
      </p:sp>
      <p:sp>
        <p:nvSpPr>
          <p:cNvPr id="9" name="factor-AC 2 Tier">
            <a:extLst xmlns:a="http://schemas.openxmlformats.org/drawingml/2006/main">
              <a:ext uri="{FF2B5EF4-FFF2-40B4-BE49-F238E27FC236}">
                <a16:creationId xmlns:a16="http://schemas.microsoft.com/office/drawing/2014/main" id="{8FD3184C-E1A9-460E-9821-B62F0EA66189}"/>
              </a:ext>
            </a:extLst>
          </p:cNvPr>
          <p:cNvSpPr>
            <a:spLocks xmlns:a="http://schemas.openxmlformats.org/drawingml/2006/main" noGrp="1"/>
          </p:cNvSpPr>
          <p:nvPr/>
        </p:nvSpPr>
        <p:spPr>
          <a:xfrm xmlns:a="http://schemas.openxmlformats.org/drawingml/2006/main">
            <a:off x="704850" y="45529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245B50"/>
                </a:solidFill>
                <a:latin typeface="Arial"/>
                <a:ea typeface="Arial"/>
                <a:cs typeface="Arial"/>
              </a:defRPr>
            </a:pPr>
            <a:r>
              <a:rPr sz="1350" b="0" i="0">
                <a:solidFill>
                  <a:srgbClr val="245B50"/>
                </a:solidFill>
                <a:latin typeface="Arial"/>
                <a:ea typeface="Arial"/>
                <a:cs typeface="Arial"/>
              </a:rPr>
              <a:t>× 2.20</a:t>
            </a:r>
          </a:p>
        </p:txBody>
      </p:sp>
      <p:sp>
        <p:nvSpPr>
          <p:cNvPr id="10" name="class-AC 3 Tier">
            <a:extLst xmlns:a="http://schemas.openxmlformats.org/drawingml/2006/main">
              <a:ext uri="{FF2B5EF4-FFF2-40B4-BE49-F238E27FC236}">
                <a16:creationId xmlns:a16="http://schemas.microsoft.com/office/drawing/2014/main" id="{2AF49E82-E7B3-4359-AED4-F0145B0CE709}"/>
              </a:ext>
            </a:extLst>
          </p:cNvPr>
          <p:cNvSpPr>
            <a:spLocks xmlns:a="http://schemas.openxmlformats.org/drawingml/2006/main" noGrp="1"/>
          </p:cNvSpPr>
          <p:nvPr/>
        </p:nvSpPr>
        <p:spPr>
          <a:xfrm xmlns:a="http://schemas.openxmlformats.org/drawingml/2006/main">
            <a:off x="4191000" y="4162425"/>
            <a:ext cx="228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72D34"/>
                </a:solidFill>
                <a:latin typeface="Arial"/>
                <a:ea typeface="Arial"/>
                <a:cs typeface="Arial"/>
              </a:defRPr>
            </a:pPr>
            <a:r>
              <a:rPr sz="1725" b="1" i="0">
                <a:solidFill>
                  <a:srgbClr val="172D34"/>
                </a:solidFill>
                <a:latin typeface="Arial"/>
                <a:ea typeface="Arial"/>
                <a:cs typeface="Arial"/>
              </a:rPr>
              <a:t>AC 3 Tier</a:t>
            </a:r>
          </a:p>
        </p:txBody>
      </p:sp>
      <p:sp>
        <p:nvSpPr>
          <p:cNvPr id="11" name="factor-AC 3 Tier">
            <a:extLst xmlns:a="http://schemas.openxmlformats.org/drawingml/2006/main">
              <a:ext uri="{FF2B5EF4-FFF2-40B4-BE49-F238E27FC236}">
                <a16:creationId xmlns:a16="http://schemas.microsoft.com/office/drawing/2014/main" id="{E29D9DC5-ED30-4F7D-AE1E-595ED14D7A25}"/>
              </a:ext>
            </a:extLst>
          </p:cNvPr>
          <p:cNvSpPr>
            <a:spLocks xmlns:a="http://schemas.openxmlformats.org/drawingml/2006/main" noGrp="1"/>
          </p:cNvSpPr>
          <p:nvPr/>
        </p:nvSpPr>
        <p:spPr>
          <a:xfrm xmlns:a="http://schemas.openxmlformats.org/drawingml/2006/main">
            <a:off x="4191000" y="45529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245B50"/>
                </a:solidFill>
                <a:latin typeface="Arial"/>
                <a:ea typeface="Arial"/>
                <a:cs typeface="Arial"/>
              </a:defRPr>
            </a:pPr>
            <a:r>
              <a:rPr sz="1350" b="0" i="0">
                <a:solidFill>
                  <a:srgbClr val="245B50"/>
                </a:solidFill>
                <a:latin typeface="Arial"/>
                <a:ea typeface="Arial"/>
                <a:cs typeface="Arial"/>
              </a:rPr>
              <a:t>× 1.65</a:t>
            </a:r>
          </a:p>
        </p:txBody>
      </p:sp>
      <p:sp>
        <p:nvSpPr>
          <p:cNvPr id="12" name="class-Sleeper">
            <a:extLst xmlns:a="http://schemas.openxmlformats.org/drawingml/2006/main">
              <a:ext uri="{FF2B5EF4-FFF2-40B4-BE49-F238E27FC236}">
                <a16:creationId xmlns:a16="http://schemas.microsoft.com/office/drawing/2014/main" id="{0589B155-225A-4470-95EB-EA08C21A6FDF}"/>
              </a:ext>
            </a:extLst>
          </p:cNvPr>
          <p:cNvSpPr>
            <a:spLocks xmlns:a="http://schemas.openxmlformats.org/drawingml/2006/main" noGrp="1"/>
          </p:cNvSpPr>
          <p:nvPr/>
        </p:nvSpPr>
        <p:spPr>
          <a:xfrm xmlns:a="http://schemas.openxmlformats.org/drawingml/2006/main">
            <a:off x="7696200" y="4162425"/>
            <a:ext cx="228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72D34"/>
                </a:solidFill>
                <a:latin typeface="Arial"/>
                <a:ea typeface="Arial"/>
                <a:cs typeface="Arial"/>
              </a:defRPr>
            </a:pPr>
            <a:r>
              <a:rPr sz="1725" b="1" i="0">
                <a:solidFill>
                  <a:srgbClr val="172D34"/>
                </a:solidFill>
                <a:latin typeface="Arial"/>
                <a:ea typeface="Arial"/>
                <a:cs typeface="Arial"/>
              </a:rPr>
              <a:t>Sleeper</a:t>
            </a:r>
          </a:p>
        </p:txBody>
      </p:sp>
      <p:sp>
        <p:nvSpPr>
          <p:cNvPr id="13" name="factor-Sleeper">
            <a:extLst xmlns:a="http://schemas.openxmlformats.org/drawingml/2006/main">
              <a:ext uri="{FF2B5EF4-FFF2-40B4-BE49-F238E27FC236}">
                <a16:creationId xmlns:a16="http://schemas.microsoft.com/office/drawing/2014/main" id="{9C86AD34-1E00-4CD8-88FD-88F138949B55}"/>
              </a:ext>
            </a:extLst>
          </p:cNvPr>
          <p:cNvSpPr>
            <a:spLocks xmlns:a="http://schemas.openxmlformats.org/drawingml/2006/main" noGrp="1"/>
          </p:cNvSpPr>
          <p:nvPr/>
        </p:nvSpPr>
        <p:spPr>
          <a:xfrm xmlns:a="http://schemas.openxmlformats.org/drawingml/2006/main">
            <a:off x="7696200" y="45529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245B50"/>
                </a:solidFill>
                <a:latin typeface="Arial"/>
                <a:ea typeface="Arial"/>
                <a:cs typeface="Arial"/>
              </a:defRPr>
            </a:pPr>
            <a:r>
              <a:rPr sz="1350" b="0" i="0">
                <a:solidFill>
                  <a:srgbClr val="245B50"/>
                </a:solidFill>
                <a:latin typeface="Arial"/>
                <a:ea typeface="Arial"/>
                <a:cs typeface="Arial"/>
              </a:rPr>
              <a:t>× 1.00</a:t>
            </a:r>
          </a:p>
        </p:txBody>
      </p:sp>
      <p:sp>
        <p:nvSpPr>
          <p:cNvPr id="14" name="">
            <a:extLst xmlns:a="http://schemas.openxmlformats.org/drawingml/2006/main">
              <a:ext uri="{FF2B5EF4-FFF2-40B4-BE49-F238E27FC236}">
                <a16:creationId xmlns:a16="http://schemas.microsoft.com/office/drawing/2014/main" id="{09556F23-CDD9-46E0-9209-38F99DAF17E7}"/>
              </a:ext>
            </a:extLst>
          </p:cNvPr>
          <p:cNvSpPr>
            <a:spLocks xmlns:a="http://schemas.openxmlformats.org/drawingml/2006/main" noGrp="1"/>
          </p:cNvSpPr>
          <p:nvPr/>
        </p:nvSpPr>
        <p:spPr>
          <a:xfrm xmlns:a="http://schemas.openxmlformats.org/drawingml/2006/main">
            <a:off x="704850" y="5143500"/>
            <a:ext cx="1078230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5" name="fare-total-equation">
            <a:extLst xmlns:a="http://schemas.openxmlformats.org/drawingml/2006/main">
              <a:ext uri="{FF2B5EF4-FFF2-40B4-BE49-F238E27FC236}">
                <a16:creationId xmlns:a16="http://schemas.microsoft.com/office/drawing/2014/main" id="{57B2C64D-8634-4AE6-839E-5ACBACEA8F6E}"/>
              </a:ext>
            </a:extLst>
          </p:cNvPr>
          <p:cNvSpPr>
            <a:spLocks xmlns:a="http://schemas.openxmlformats.org/drawingml/2006/main" noGrp="1"/>
          </p:cNvSpPr>
          <p:nvPr/>
        </p:nvSpPr>
        <p:spPr>
          <a:xfrm xmlns:a="http://schemas.openxmlformats.org/drawingml/2006/main">
            <a:off x="704850" y="53625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172D34"/>
                </a:solidFill>
                <a:latin typeface="Arial"/>
                <a:ea typeface="Arial"/>
                <a:cs typeface="Arial"/>
              </a:defRPr>
            </a:pPr>
            <a:r>
              <a:rPr sz="1650" b="1" i="0">
                <a:solidFill>
                  <a:srgbClr val="172D34"/>
                </a:solidFill>
                <a:latin typeface="Arial"/>
                <a:ea typeface="Arial"/>
                <a:cs typeface="Arial"/>
              </a:rPr>
              <a:t>Total demo fare = per-traveller fare × travellers + ₹45 × travellers</a:t>
            </a:r>
          </a:p>
        </p:txBody>
      </p:sp>
      <p:sp>
        <p:nvSpPr>
          <p:cNvPr id="16" name="fare-note">
            <a:extLst xmlns:a="http://schemas.openxmlformats.org/drawingml/2006/main">
              <a:ext uri="{FF2B5EF4-FFF2-40B4-BE49-F238E27FC236}">
                <a16:creationId xmlns:a16="http://schemas.microsoft.com/office/drawing/2014/main" id="{2E8FEB89-8745-4D31-BC90-555CC9F7136D}"/>
              </a:ext>
            </a:extLst>
          </p:cNvPr>
          <p:cNvSpPr>
            <a:spLocks xmlns:a="http://schemas.openxmlformats.org/drawingml/2006/main" noGrp="1"/>
          </p:cNvSpPr>
          <p:nvPr/>
        </p:nvSpPr>
        <p:spPr>
          <a:xfrm xmlns:a="http://schemas.openxmlformats.org/drawingml/2006/main">
            <a:off x="704850" y="60007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718085"/>
                </a:solidFill>
                <a:latin typeface="Arial"/>
                <a:ea typeface="Arial"/>
                <a:cs typeface="Arial"/>
              </a:defRPr>
            </a:pPr>
            <a:r>
              <a:rPr sz="975" b="0" i="0">
                <a:solidFill>
                  <a:srgbClr val="718085"/>
                </a:solidFill>
                <a:latin typeface="Arial"/>
                <a:ea typeface="Arial"/>
                <a:cs typeface="Arial"/>
              </a:rPr>
              <a:t>Unavailable seats are disabled. Saved demo seats are also reflected in later searches for the same date and class.</a:t>
            </a:r>
          </a:p>
        </p:txBody>
      </p:sp>
    </p:spTree>
    <p:extLst>
      <p:ext uri="{BB962C8B-B14F-4D97-AF65-F5344CB8AC3E}">
        <p14:creationId xmlns:p14="http://schemas.microsoft.com/office/powerpoint/2010/main" val="1964372324"/>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0632CB14-1337-4FF5-95D3-E4F463F87CAB}"/>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PASSENGER DETAILS</a:t>
            </a:r>
          </a:p>
        </p:txBody>
      </p:sp>
      <p:sp>
        <p:nvSpPr>
          <p:cNvPr id="2" name="slide-title">
            <a:extLst xmlns:a="http://schemas.openxmlformats.org/drawingml/2006/main">
              <a:ext uri="{FF2B5EF4-FFF2-40B4-BE49-F238E27FC236}">
                <a16:creationId xmlns:a16="http://schemas.microsoft.com/office/drawing/2014/main" id="{5ACE6640-B9C9-4C3D-9917-A112454404A3}"/>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Bookings stay in the browser.</a:t>
            </a:r>
          </a:p>
        </p:txBody>
      </p:sp>
      <p:sp>
        <p:nvSpPr>
          <p:cNvPr id="3" name="slide-subtitle">
            <a:extLst xmlns:a="http://schemas.openxmlformats.org/drawingml/2006/main">
              <a:ext uri="{FF2B5EF4-FFF2-40B4-BE49-F238E27FC236}">
                <a16:creationId xmlns:a16="http://schemas.microsoft.com/office/drawing/2014/main" id="{1955837F-5DF6-4E31-86A6-DC27E0D75E65}"/>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The confirmation clearly labels each record as a local demo booking.</a:t>
            </a:r>
          </a:p>
        </p:txBody>
      </p:sp>
      <p:sp>
        <p:nvSpPr>
          <p:cNvPr id="4" name="data-object-label">
            <a:extLst xmlns:a="http://schemas.openxmlformats.org/drawingml/2006/main">
              <a:ext uri="{FF2B5EF4-FFF2-40B4-BE49-F238E27FC236}">
                <a16:creationId xmlns:a16="http://schemas.microsoft.com/office/drawing/2014/main" id="{9B1BF997-F87B-4D60-B31C-868CB066D140}"/>
              </a:ext>
            </a:extLst>
          </p:cNvPr>
          <p:cNvSpPr>
            <a:spLocks xmlns:a="http://schemas.openxmlformats.org/drawingml/2006/main" noGrp="1"/>
          </p:cNvSpPr>
          <p:nvPr/>
        </p:nvSpPr>
        <p:spPr>
          <a:xfrm xmlns:a="http://schemas.openxmlformats.org/drawingml/2006/main">
            <a:off x="704850" y="228600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ONE SAVED BOOKING CONTAINS</a:t>
            </a:r>
          </a:p>
        </p:txBody>
      </p:sp>
      <p:sp>
        <p:nvSpPr>
          <p:cNvPr id="5" name="data-object">
            <a:extLst xmlns:a="http://schemas.openxmlformats.org/drawingml/2006/main">
              <a:ext uri="{FF2B5EF4-FFF2-40B4-BE49-F238E27FC236}">
                <a16:creationId xmlns:a16="http://schemas.microsoft.com/office/drawing/2014/main" id="{7479D273-ECD9-4C97-A47F-BD9ECD1F2EAF}"/>
              </a:ext>
            </a:extLst>
          </p:cNvPr>
          <p:cNvSpPr>
            <a:spLocks xmlns:a="http://schemas.openxmlformats.org/drawingml/2006/main" noGrp="1"/>
          </p:cNvSpPr>
          <p:nvPr/>
        </p:nvSpPr>
        <p:spPr>
          <a:xfrm xmlns:a="http://schemas.openxmlformats.org/drawingml/2006/main">
            <a:off x="704850" y="2667000"/>
            <a:ext cx="452437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D34"/>
                </a:solidFill>
                <a:latin typeface="Arial"/>
                <a:ea typeface="Arial"/>
                <a:cs typeface="Arial"/>
              </a:defRPr>
            </a:pPr>
            <a:r>
              <a:rPr sz="1875" b="0" i="0">
                <a:solidFill>
                  <a:srgbClr val="172D34"/>
                </a:solidFill>
                <a:latin typeface="Arial"/>
                <a:ea typeface="Arial"/>
                <a:cs typeface="Arial"/>
              </a:rPr>
              <a:t>Route · train · date</a:t>
            </a:r>
          </a:p>
          <a:p xmlns:a="http://schemas.openxmlformats.org/drawingml/2006/main">
            <a:pPr algn="l">
              <a:defRPr sz="1875" b="0" i="0">
                <a:solidFill>
                  <a:srgbClr val="172D34"/>
                </a:solidFill>
                <a:latin typeface="Arial"/>
                <a:ea typeface="Arial"/>
                <a:cs typeface="Arial"/>
              </a:defRPr>
            </a:pPr>
            <a:r>
              <a:rPr sz="1875" b="0" i="0">
                <a:solidFill>
                  <a:srgbClr val="172D34"/>
                </a:solidFill>
                <a:latin typeface="Arial"/>
                <a:ea typeface="Arial"/>
                <a:cs typeface="Arial"/>
              </a:rPr>
              <a:t>Travel class · seats</a:t>
            </a:r>
          </a:p>
          <a:p xmlns:a="http://schemas.openxmlformats.org/drawingml/2006/main">
            <a:pPr algn="l">
              <a:defRPr sz="1875" b="0" i="0">
                <a:solidFill>
                  <a:srgbClr val="172D34"/>
                </a:solidFill>
                <a:latin typeface="Arial"/>
                <a:ea typeface="Arial"/>
                <a:cs typeface="Arial"/>
              </a:defRPr>
            </a:pPr>
            <a:r>
              <a:rPr sz="1875" b="0" i="0">
                <a:solidFill>
                  <a:srgbClr val="172D34"/>
                </a:solidFill>
                <a:latin typeface="Arial"/>
                <a:ea typeface="Arial"/>
                <a:cs typeface="Arial"/>
              </a:rPr>
              <a:t>Passenger and contact details</a:t>
            </a:r>
          </a:p>
          <a:p xmlns:a="http://schemas.openxmlformats.org/drawingml/2006/main">
            <a:pPr algn="l">
              <a:defRPr sz="1875" b="0" i="0">
                <a:solidFill>
                  <a:srgbClr val="172D34"/>
                </a:solidFill>
                <a:latin typeface="Arial"/>
                <a:ea typeface="Arial"/>
                <a:cs typeface="Arial"/>
              </a:defRPr>
            </a:pPr>
            <a:r>
              <a:rPr sz="1875" b="0" i="0">
                <a:solidFill>
                  <a:srgbClr val="172D34"/>
                </a:solidFill>
                <a:latin typeface="Arial"/>
                <a:ea typeface="Arial"/>
                <a:cs typeface="Arial"/>
              </a:rPr>
              <a:t>Total demo fare</a:t>
            </a:r>
          </a:p>
        </p:txBody>
      </p:sp>
      <p:sp>
        <p:nvSpPr>
          <p:cNvPr id="6" name="">
            <a:extLst xmlns:a="http://schemas.openxmlformats.org/drawingml/2006/main">
              <a:ext uri="{FF2B5EF4-FFF2-40B4-BE49-F238E27FC236}">
                <a16:creationId xmlns:a16="http://schemas.microsoft.com/office/drawing/2014/main" id="{AD4B81E1-396B-45E8-97B9-29CC3A7096B9}"/>
              </a:ext>
            </a:extLst>
          </p:cNvPr>
          <p:cNvSpPr>
            <a:spLocks xmlns:a="http://schemas.openxmlformats.org/drawingml/2006/main" noGrp="1"/>
          </p:cNvSpPr>
          <p:nvPr/>
        </p:nvSpPr>
        <p:spPr>
          <a:xfrm xmlns:a="http://schemas.openxmlformats.org/drawingml/2006/main">
            <a:off x="5991225" y="2209800"/>
            <a:ext cx="9525" cy="331470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7" name="storage-label">
            <a:extLst xmlns:a="http://schemas.openxmlformats.org/drawingml/2006/main">
              <a:ext uri="{FF2B5EF4-FFF2-40B4-BE49-F238E27FC236}">
                <a16:creationId xmlns:a16="http://schemas.microsoft.com/office/drawing/2014/main" id="{B86085B1-57A2-4AE2-910F-65088768E26D}"/>
              </a:ext>
            </a:extLst>
          </p:cNvPr>
          <p:cNvSpPr>
            <a:spLocks xmlns:a="http://schemas.openxmlformats.org/drawingml/2006/main" noGrp="1"/>
          </p:cNvSpPr>
          <p:nvPr/>
        </p:nvSpPr>
        <p:spPr>
          <a:xfrm xmlns:a="http://schemas.openxmlformats.org/drawingml/2006/main">
            <a:off x="6600825" y="231457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LOCAL STORAGE</a:t>
            </a:r>
          </a:p>
        </p:txBody>
      </p:sp>
      <p:sp>
        <p:nvSpPr>
          <p:cNvPr id="8" name="storage-copy">
            <a:extLst xmlns:a="http://schemas.openxmlformats.org/drawingml/2006/main">
              <a:ext uri="{FF2B5EF4-FFF2-40B4-BE49-F238E27FC236}">
                <a16:creationId xmlns:a16="http://schemas.microsoft.com/office/drawing/2014/main" id="{D6F03F02-9BC4-441D-AB46-3844BB2D52C3}"/>
              </a:ext>
            </a:extLst>
          </p:cNvPr>
          <p:cNvSpPr>
            <a:spLocks xmlns:a="http://schemas.openxmlformats.org/drawingml/2006/main" noGrp="1"/>
          </p:cNvSpPr>
          <p:nvPr/>
        </p:nvSpPr>
        <p:spPr>
          <a:xfrm xmlns:a="http://schemas.openxmlformats.org/drawingml/2006/main">
            <a:off x="6600825" y="2667000"/>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172D34"/>
                </a:solidFill>
                <a:latin typeface="Arial"/>
                <a:ea typeface="Arial"/>
                <a:cs typeface="Arial"/>
              </a:defRPr>
            </a:pPr>
            <a:r>
              <a:rPr sz="1575" b="0" i="0">
                <a:solidFill>
                  <a:srgbClr val="172D34"/>
                </a:solidFill>
                <a:latin typeface="Arial"/>
                <a:ea typeface="Arial"/>
                <a:cs typeface="Arial"/>
              </a:rPr>
              <a:t>Saved trips return when the page is reopened. Passengers can review or remove a demo record from My Trips.</a:t>
            </a:r>
          </a:p>
        </p:txBody>
      </p:sp>
      <p:sp>
        <p:nvSpPr>
          <p:cNvPr id="9" name="fallback-label">
            <a:extLst xmlns:a="http://schemas.openxmlformats.org/drawingml/2006/main">
              <a:ext uri="{FF2B5EF4-FFF2-40B4-BE49-F238E27FC236}">
                <a16:creationId xmlns:a16="http://schemas.microsoft.com/office/drawing/2014/main" id="{B3AA318A-0F49-4369-A1E6-C1EC78FEFCE7}"/>
              </a:ext>
            </a:extLst>
          </p:cNvPr>
          <p:cNvSpPr>
            <a:spLocks xmlns:a="http://schemas.openxmlformats.org/drawingml/2006/main" noGrp="1"/>
          </p:cNvSpPr>
          <p:nvPr/>
        </p:nvSpPr>
        <p:spPr>
          <a:xfrm xmlns:a="http://schemas.openxmlformats.org/drawingml/2006/main">
            <a:off x="6600825" y="38576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WHEN STORAGE IS BLOCKED</a:t>
            </a:r>
          </a:p>
        </p:txBody>
      </p:sp>
      <p:sp>
        <p:nvSpPr>
          <p:cNvPr id="10" name="fallback-copy">
            <a:extLst xmlns:a="http://schemas.openxmlformats.org/drawingml/2006/main">
              <a:ext uri="{FF2B5EF4-FFF2-40B4-BE49-F238E27FC236}">
                <a16:creationId xmlns:a16="http://schemas.microsoft.com/office/drawing/2014/main" id="{4526D539-84D1-4AFA-B302-E4CEAE68E7E7}"/>
              </a:ext>
            </a:extLst>
          </p:cNvPr>
          <p:cNvSpPr>
            <a:spLocks xmlns:a="http://schemas.openxmlformats.org/drawingml/2006/main" noGrp="1"/>
          </p:cNvSpPr>
          <p:nvPr/>
        </p:nvSpPr>
        <p:spPr>
          <a:xfrm xmlns:a="http://schemas.openxmlformats.org/drawingml/2006/main">
            <a:off x="6600825" y="4210050"/>
            <a:ext cx="428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3666B"/>
                </a:solidFill>
                <a:latin typeface="Arial"/>
                <a:ea typeface="Arial"/>
                <a:cs typeface="Arial"/>
              </a:defRPr>
            </a:pPr>
            <a:r>
              <a:rPr sz="1350" b="0" i="0">
                <a:solidFill>
                  <a:srgbClr val="53666B"/>
                </a:solidFill>
                <a:latin typeface="Arial"/>
                <a:ea typeface="Arial"/>
                <a:cs typeface="Arial"/>
              </a:rPr>
              <a:t>The project falls back to memory for the current visit and shows a message that the record will not persist.</a:t>
            </a:r>
          </a:p>
        </p:txBody>
      </p:sp>
      <p:sp>
        <p:nvSpPr>
          <p:cNvPr id="11" name="">
            <a:extLst xmlns:a="http://schemas.openxmlformats.org/drawingml/2006/main">
              <a:ext uri="{FF2B5EF4-FFF2-40B4-BE49-F238E27FC236}">
                <a16:creationId xmlns:a16="http://schemas.microsoft.com/office/drawing/2014/main" id="{2C3903E7-693C-4329-98B3-DB0EB6E13DDC}"/>
              </a:ext>
            </a:extLst>
          </p:cNvPr>
          <p:cNvSpPr>
            <a:spLocks xmlns:a="http://schemas.openxmlformats.org/drawingml/2006/main" noGrp="1"/>
          </p:cNvSpPr>
          <p:nvPr/>
        </p:nvSpPr>
        <p:spPr>
          <a:xfrm xmlns:a="http://schemas.openxmlformats.org/drawingml/2006/main">
            <a:off x="704850" y="5400675"/>
            <a:ext cx="1078230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2" name="data-privacy">
            <a:extLst xmlns:a="http://schemas.openxmlformats.org/drawingml/2006/main">
              <a:ext uri="{FF2B5EF4-FFF2-40B4-BE49-F238E27FC236}">
                <a16:creationId xmlns:a16="http://schemas.microsoft.com/office/drawing/2014/main" id="{29580767-36A5-4BA6-8163-05452B7383B0}"/>
              </a:ext>
            </a:extLst>
          </p:cNvPr>
          <p:cNvSpPr>
            <a:spLocks xmlns:a="http://schemas.openxmlformats.org/drawingml/2006/main" noGrp="1"/>
          </p:cNvSpPr>
          <p:nvPr/>
        </p:nvSpPr>
        <p:spPr>
          <a:xfrm xmlns:a="http://schemas.openxmlformats.org/drawingml/2006/main">
            <a:off x="704850" y="561975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1C493F"/>
                </a:solidFill>
                <a:latin typeface="Arial"/>
                <a:ea typeface="Arial"/>
                <a:cs typeface="Arial"/>
              </a:defRPr>
            </a:pPr>
            <a:r>
              <a:rPr sz="1200" b="0" i="0">
                <a:solidFill>
                  <a:srgbClr val="1C493F"/>
                </a:solidFill>
                <a:latin typeface="Arial"/>
                <a:ea typeface="Arial"/>
                <a:cs typeface="Arial"/>
              </a:rPr>
              <a:t>No details are sent to a server. Use sample passenger information in this learning demo.</a:t>
            </a:r>
          </a:p>
        </p:txBody>
      </p:sp>
    </p:spTree>
    <p:extLst>
      <p:ext uri="{BB962C8B-B14F-4D97-AF65-F5344CB8AC3E}">
        <p14:creationId xmlns:p14="http://schemas.microsoft.com/office/powerpoint/2010/main" val="1356177578"/>
      </p:ext>
    </p:extLst>
  </p:cSld>
</p:sld>
</file>

<file path=ppt/slides/slide7.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CFA6A3D5-6BE4-415C-A676-4471EBF2BA9C}"/>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FRONT-END ARCHITECTURE</a:t>
            </a:r>
          </a:p>
        </p:txBody>
      </p:sp>
      <p:sp>
        <p:nvSpPr>
          <p:cNvPr id="2" name="slide-title">
            <a:extLst xmlns:a="http://schemas.openxmlformats.org/drawingml/2006/main">
              <a:ext uri="{FF2B5EF4-FFF2-40B4-BE49-F238E27FC236}">
                <a16:creationId xmlns:a16="http://schemas.microsoft.com/office/drawing/2014/main" id="{005BC4C7-B249-42DA-8CBB-0DF1F64CB391}"/>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Three web technologies share the work.</a:t>
            </a:r>
          </a:p>
        </p:txBody>
      </p:sp>
      <p:sp>
        <p:nvSpPr>
          <p:cNvPr id="3" name="slide-subtitle">
            <a:extLst xmlns:a="http://schemas.openxmlformats.org/drawingml/2006/main">
              <a:ext uri="{FF2B5EF4-FFF2-40B4-BE49-F238E27FC236}">
                <a16:creationId xmlns:a16="http://schemas.microsoft.com/office/drawing/2014/main" id="{DC1EDBD1-0578-42CA-BB81-72C95EF772DB}"/>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The app runs in the browser without a framework or build step.</a:t>
            </a:r>
          </a:p>
        </p:txBody>
      </p:sp>
      <p:sp>
        <p:nvSpPr>
          <p:cNvPr id="4" name="">
            <a:extLst xmlns:a="http://schemas.openxmlformats.org/drawingml/2006/main">
              <a:ext uri="{FF2B5EF4-FFF2-40B4-BE49-F238E27FC236}">
                <a16:creationId xmlns:a16="http://schemas.microsoft.com/office/drawing/2014/main" id="{EEB2CFF6-D731-4555-90AB-DD7FAA9EECF9}"/>
              </a:ext>
            </a:extLst>
          </p:cNvPr>
          <p:cNvSpPr>
            <a:spLocks xmlns:a="http://schemas.openxmlformats.org/drawingml/2006/main" noGrp="1"/>
          </p:cNvSpPr>
          <p:nvPr/>
        </p:nvSpPr>
        <p:spPr>
          <a:xfrm xmlns:a="http://schemas.openxmlformats.org/drawingml/2006/main">
            <a:off x="4114800" y="2409825"/>
            <a:ext cx="9525" cy="276225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D3BE97-2541-4D35-B3EB-8C9DE9402F1A}"/>
              </a:ext>
            </a:extLst>
          </p:cNvPr>
          <p:cNvSpPr>
            <a:spLocks xmlns:a="http://schemas.openxmlformats.org/drawingml/2006/main" noGrp="1"/>
          </p:cNvSpPr>
          <p:nvPr/>
        </p:nvSpPr>
        <p:spPr>
          <a:xfrm xmlns:a="http://schemas.openxmlformats.org/drawingml/2006/main">
            <a:off x="7781925" y="2409825"/>
            <a:ext cx="9525" cy="2762250"/>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6" name="tech-label-0">
            <a:extLst xmlns:a="http://schemas.openxmlformats.org/drawingml/2006/main">
              <a:ext uri="{FF2B5EF4-FFF2-40B4-BE49-F238E27FC236}">
                <a16:creationId xmlns:a16="http://schemas.microsoft.com/office/drawing/2014/main" id="{71066B0A-A955-4972-B61E-3CBEDC4E2A57}"/>
              </a:ext>
            </a:extLst>
          </p:cNvPr>
          <p:cNvSpPr>
            <a:spLocks xmlns:a="http://schemas.openxmlformats.org/drawingml/2006/main" noGrp="1"/>
          </p:cNvSpPr>
          <p:nvPr/>
        </p:nvSpPr>
        <p:spPr>
          <a:xfrm xmlns:a="http://schemas.openxmlformats.org/drawingml/2006/main">
            <a:off x="695325" y="25146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STRUCTURE</a:t>
            </a:r>
          </a:p>
        </p:txBody>
      </p:sp>
      <p:sp>
        <p:nvSpPr>
          <p:cNvPr id="7" name="tech-title-0">
            <a:extLst xmlns:a="http://schemas.openxmlformats.org/drawingml/2006/main">
              <a:ext uri="{FF2B5EF4-FFF2-40B4-BE49-F238E27FC236}">
                <a16:creationId xmlns:a16="http://schemas.microsoft.com/office/drawing/2014/main" id="{18FE4018-F54C-4C31-B3B7-B7BE02CF0AA4}"/>
              </a:ext>
            </a:extLst>
          </p:cNvPr>
          <p:cNvSpPr>
            <a:spLocks xmlns:a="http://schemas.openxmlformats.org/drawingml/2006/main" noGrp="1"/>
          </p:cNvSpPr>
          <p:nvPr/>
        </p:nvSpPr>
        <p:spPr>
          <a:xfrm xmlns:a="http://schemas.openxmlformats.org/drawingml/2006/main">
            <a:off x="695325" y="28575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172D34"/>
                </a:solidFill>
                <a:latin typeface="Arial"/>
                <a:ea typeface="Arial"/>
                <a:cs typeface="Arial"/>
              </a:defRPr>
            </a:pPr>
            <a:r>
              <a:rPr sz="2550" b="1" i="0">
                <a:solidFill>
                  <a:srgbClr val="172D34"/>
                </a:solidFill>
                <a:latin typeface="Arial"/>
                <a:ea typeface="Arial"/>
                <a:cs typeface="Arial"/>
              </a:rPr>
              <a:t>HTML</a:t>
            </a:r>
          </a:p>
        </p:txBody>
      </p:sp>
      <p:sp>
        <p:nvSpPr>
          <p:cNvPr id="8" name="">
            <a:extLst xmlns:a="http://schemas.openxmlformats.org/drawingml/2006/main">
              <a:ext uri="{FF2B5EF4-FFF2-40B4-BE49-F238E27FC236}">
                <a16:creationId xmlns:a16="http://schemas.microsoft.com/office/drawing/2014/main" id="{13CDDAE9-EDA4-4738-838C-7CA0B8D51610}"/>
              </a:ext>
            </a:extLst>
          </p:cNvPr>
          <p:cNvSpPr>
            <a:spLocks xmlns:a="http://schemas.openxmlformats.org/drawingml/2006/main" noGrp="1"/>
          </p:cNvSpPr>
          <p:nvPr/>
        </p:nvSpPr>
        <p:spPr>
          <a:xfrm xmlns:a="http://schemas.openxmlformats.org/drawingml/2006/main">
            <a:off x="695325" y="3543300"/>
            <a:ext cx="495300" cy="28575"/>
          </a:xfrm>
          <a:prstGeom xmlns:a="http://schemas.openxmlformats.org/drawingml/2006/main" prst="rect">
            <a:avLst/>
          </a:prstGeom>
          <a:solidFill xmlns:a="http://schemas.openxmlformats.org/drawingml/2006/main">
            <a:srgbClr val="D0A15E"/>
          </a:solidFill>
          <a:ln xmlns:a="http://schemas.openxmlformats.org/drawingml/2006/main" w="0">
            <a:noFill/>
          </a:ln>
        </p:spPr>
      </p:sp>
      <p:sp>
        <p:nvSpPr>
          <p:cNvPr id="9" name="tech-body-0">
            <a:extLst xmlns:a="http://schemas.openxmlformats.org/drawingml/2006/main">
              <a:ext uri="{FF2B5EF4-FFF2-40B4-BE49-F238E27FC236}">
                <a16:creationId xmlns:a16="http://schemas.microsoft.com/office/drawing/2014/main" id="{2B0F487D-B10D-4E1C-A9BF-1233A9707DEC}"/>
              </a:ext>
            </a:extLst>
          </p:cNvPr>
          <p:cNvSpPr>
            <a:spLocks xmlns:a="http://schemas.openxmlformats.org/drawingml/2006/main" noGrp="1"/>
          </p:cNvSpPr>
          <p:nvPr/>
        </p:nvSpPr>
        <p:spPr>
          <a:xfrm xmlns:a="http://schemas.openxmlformats.org/drawingml/2006/main">
            <a:off x="695325" y="3829050"/>
            <a:ext cx="3000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3666B"/>
                </a:solidFill>
                <a:latin typeface="Arial"/>
                <a:ea typeface="Arial"/>
                <a:cs typeface="Arial"/>
              </a:defRPr>
            </a:pPr>
            <a:r>
              <a:rPr sz="1425" b="0" i="0">
                <a:solidFill>
                  <a:srgbClr val="53666B"/>
                </a:solidFill>
                <a:latin typeface="Arial"/>
                <a:ea typeface="Arial"/>
                <a:cs typeface="Arial"/>
              </a:rPr>
              <a:t>Semantic sections, station controls and passenger forms give the interface its shape.</a:t>
            </a:r>
          </a:p>
        </p:txBody>
      </p:sp>
      <p:sp>
        <p:nvSpPr>
          <p:cNvPr id="10" name="tech-label-1">
            <a:extLst xmlns:a="http://schemas.openxmlformats.org/drawingml/2006/main">
              <a:ext uri="{FF2B5EF4-FFF2-40B4-BE49-F238E27FC236}">
                <a16:creationId xmlns:a16="http://schemas.microsoft.com/office/drawing/2014/main" id="{5A32E7E4-CD28-473D-947D-A268FCA395FA}"/>
              </a:ext>
            </a:extLst>
          </p:cNvPr>
          <p:cNvSpPr>
            <a:spLocks xmlns:a="http://schemas.openxmlformats.org/drawingml/2006/main" noGrp="1"/>
          </p:cNvSpPr>
          <p:nvPr/>
        </p:nvSpPr>
        <p:spPr>
          <a:xfrm xmlns:a="http://schemas.openxmlformats.org/drawingml/2006/main">
            <a:off x="4362450" y="25146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PRESENTATION</a:t>
            </a:r>
          </a:p>
        </p:txBody>
      </p:sp>
      <p:sp>
        <p:nvSpPr>
          <p:cNvPr id="11" name="tech-title-1">
            <a:extLst xmlns:a="http://schemas.openxmlformats.org/drawingml/2006/main">
              <a:ext uri="{FF2B5EF4-FFF2-40B4-BE49-F238E27FC236}">
                <a16:creationId xmlns:a16="http://schemas.microsoft.com/office/drawing/2014/main" id="{66103E12-486F-46DA-988C-A66E23A6ABA1}"/>
              </a:ext>
            </a:extLst>
          </p:cNvPr>
          <p:cNvSpPr>
            <a:spLocks xmlns:a="http://schemas.openxmlformats.org/drawingml/2006/main" noGrp="1"/>
          </p:cNvSpPr>
          <p:nvPr/>
        </p:nvSpPr>
        <p:spPr>
          <a:xfrm xmlns:a="http://schemas.openxmlformats.org/drawingml/2006/main">
            <a:off x="4362450" y="28575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172D34"/>
                </a:solidFill>
                <a:latin typeface="Arial"/>
                <a:ea typeface="Arial"/>
                <a:cs typeface="Arial"/>
              </a:defRPr>
            </a:pPr>
            <a:r>
              <a:rPr sz="2550" b="1" i="0">
                <a:solidFill>
                  <a:srgbClr val="172D34"/>
                </a:solidFill>
                <a:latin typeface="Arial"/>
                <a:ea typeface="Arial"/>
                <a:cs typeface="Arial"/>
              </a:rPr>
              <a:t>CSS</a:t>
            </a:r>
          </a:p>
        </p:txBody>
      </p:sp>
      <p:sp>
        <p:nvSpPr>
          <p:cNvPr id="12" name="">
            <a:extLst xmlns:a="http://schemas.openxmlformats.org/drawingml/2006/main">
              <a:ext uri="{FF2B5EF4-FFF2-40B4-BE49-F238E27FC236}">
                <a16:creationId xmlns:a16="http://schemas.microsoft.com/office/drawing/2014/main" id="{AF12DC64-BE50-487C-B66C-91104532500D}"/>
              </a:ext>
            </a:extLst>
          </p:cNvPr>
          <p:cNvSpPr>
            <a:spLocks xmlns:a="http://schemas.openxmlformats.org/drawingml/2006/main" noGrp="1"/>
          </p:cNvSpPr>
          <p:nvPr/>
        </p:nvSpPr>
        <p:spPr>
          <a:xfrm xmlns:a="http://schemas.openxmlformats.org/drawingml/2006/main">
            <a:off x="4362450" y="3543300"/>
            <a:ext cx="495300" cy="28575"/>
          </a:xfrm>
          <a:prstGeom xmlns:a="http://schemas.openxmlformats.org/drawingml/2006/main" prst="rect">
            <a:avLst/>
          </a:prstGeom>
          <a:solidFill xmlns:a="http://schemas.openxmlformats.org/drawingml/2006/main">
            <a:srgbClr val="D0A15E"/>
          </a:solidFill>
          <a:ln xmlns:a="http://schemas.openxmlformats.org/drawingml/2006/main" w="0">
            <a:noFill/>
          </a:ln>
        </p:spPr>
      </p:sp>
      <p:sp>
        <p:nvSpPr>
          <p:cNvPr id="13" name="tech-body-1">
            <a:extLst xmlns:a="http://schemas.openxmlformats.org/drawingml/2006/main">
              <a:ext uri="{FF2B5EF4-FFF2-40B4-BE49-F238E27FC236}">
                <a16:creationId xmlns:a16="http://schemas.microsoft.com/office/drawing/2014/main" id="{A85D39B4-36FA-41BF-A586-EE01F8ED502D}"/>
              </a:ext>
            </a:extLst>
          </p:cNvPr>
          <p:cNvSpPr>
            <a:spLocks xmlns:a="http://schemas.openxmlformats.org/drawingml/2006/main" noGrp="1"/>
          </p:cNvSpPr>
          <p:nvPr/>
        </p:nvSpPr>
        <p:spPr>
          <a:xfrm xmlns:a="http://schemas.openxmlformats.org/drawingml/2006/main">
            <a:off x="4362450" y="3829050"/>
            <a:ext cx="3000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3666B"/>
                </a:solidFill>
                <a:latin typeface="Arial"/>
                <a:ea typeface="Arial"/>
                <a:cs typeface="Arial"/>
              </a:defRPr>
            </a:pPr>
            <a:r>
              <a:rPr sz="1425" b="0" i="0">
                <a:solidFill>
                  <a:srgbClr val="53666B"/>
                </a:solidFill>
                <a:latin typeface="Arial"/>
                <a:ea typeface="Arial"/>
                <a:cs typeface="Arial"/>
              </a:rPr>
              <a:t>A warm rail-inspired palette, responsive layouts and clear focus states support each screen size.</a:t>
            </a:r>
          </a:p>
        </p:txBody>
      </p:sp>
      <p:sp>
        <p:nvSpPr>
          <p:cNvPr id="14" name="tech-label-2">
            <a:extLst xmlns:a="http://schemas.openxmlformats.org/drawingml/2006/main">
              <a:ext uri="{FF2B5EF4-FFF2-40B4-BE49-F238E27FC236}">
                <a16:creationId xmlns:a16="http://schemas.microsoft.com/office/drawing/2014/main" id="{4C19F9A8-8DB7-4BA1-A86B-85191EEDA4AF}"/>
              </a:ext>
            </a:extLst>
          </p:cNvPr>
          <p:cNvSpPr>
            <a:spLocks xmlns:a="http://schemas.openxmlformats.org/drawingml/2006/main" noGrp="1"/>
          </p:cNvSpPr>
          <p:nvPr/>
        </p:nvSpPr>
        <p:spPr>
          <a:xfrm xmlns:a="http://schemas.openxmlformats.org/drawingml/2006/main">
            <a:off x="8029575" y="25146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BEHAVIOUR</a:t>
            </a:r>
          </a:p>
        </p:txBody>
      </p:sp>
      <p:sp>
        <p:nvSpPr>
          <p:cNvPr id="15" name="tech-title-2">
            <a:extLst xmlns:a="http://schemas.openxmlformats.org/drawingml/2006/main">
              <a:ext uri="{FF2B5EF4-FFF2-40B4-BE49-F238E27FC236}">
                <a16:creationId xmlns:a16="http://schemas.microsoft.com/office/drawing/2014/main" id="{13CF5669-2D16-4048-AB97-9B5E18986BF7}"/>
              </a:ext>
            </a:extLst>
          </p:cNvPr>
          <p:cNvSpPr>
            <a:spLocks xmlns:a="http://schemas.openxmlformats.org/drawingml/2006/main" noGrp="1"/>
          </p:cNvSpPr>
          <p:nvPr/>
        </p:nvSpPr>
        <p:spPr>
          <a:xfrm xmlns:a="http://schemas.openxmlformats.org/drawingml/2006/main">
            <a:off x="8029575" y="28575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172D34"/>
                </a:solidFill>
                <a:latin typeface="Arial"/>
                <a:ea typeface="Arial"/>
                <a:cs typeface="Arial"/>
              </a:defRPr>
            </a:pPr>
            <a:r>
              <a:rPr sz="2550" b="1" i="0">
                <a:solidFill>
                  <a:srgbClr val="172D34"/>
                </a:solidFill>
                <a:latin typeface="Arial"/>
                <a:ea typeface="Arial"/>
                <a:cs typeface="Arial"/>
              </a:rPr>
              <a:t>JavaScript</a:t>
            </a:r>
          </a:p>
        </p:txBody>
      </p:sp>
      <p:sp>
        <p:nvSpPr>
          <p:cNvPr id="16" name="">
            <a:extLst xmlns:a="http://schemas.openxmlformats.org/drawingml/2006/main">
              <a:ext uri="{FF2B5EF4-FFF2-40B4-BE49-F238E27FC236}">
                <a16:creationId xmlns:a16="http://schemas.microsoft.com/office/drawing/2014/main" id="{00302701-E778-4955-8625-08FC604A6F8F}"/>
              </a:ext>
            </a:extLst>
          </p:cNvPr>
          <p:cNvSpPr>
            <a:spLocks xmlns:a="http://schemas.openxmlformats.org/drawingml/2006/main" noGrp="1"/>
          </p:cNvSpPr>
          <p:nvPr/>
        </p:nvSpPr>
        <p:spPr>
          <a:xfrm xmlns:a="http://schemas.openxmlformats.org/drawingml/2006/main">
            <a:off x="8029575" y="3543300"/>
            <a:ext cx="495300" cy="28575"/>
          </a:xfrm>
          <a:prstGeom xmlns:a="http://schemas.openxmlformats.org/drawingml/2006/main" prst="rect">
            <a:avLst/>
          </a:prstGeom>
          <a:solidFill xmlns:a="http://schemas.openxmlformats.org/drawingml/2006/main">
            <a:srgbClr val="D0A15E"/>
          </a:solidFill>
          <a:ln xmlns:a="http://schemas.openxmlformats.org/drawingml/2006/main" w="0">
            <a:noFill/>
          </a:ln>
        </p:spPr>
      </p:sp>
      <p:sp>
        <p:nvSpPr>
          <p:cNvPr id="17" name="tech-body-2">
            <a:extLst xmlns:a="http://schemas.openxmlformats.org/drawingml/2006/main">
              <a:ext uri="{FF2B5EF4-FFF2-40B4-BE49-F238E27FC236}">
                <a16:creationId xmlns:a16="http://schemas.microsoft.com/office/drawing/2014/main" id="{CE023FAB-A0A5-49E0-A9AC-2189F74A56B7}"/>
              </a:ext>
            </a:extLst>
          </p:cNvPr>
          <p:cNvSpPr>
            <a:spLocks xmlns:a="http://schemas.openxmlformats.org/drawingml/2006/main" noGrp="1"/>
          </p:cNvSpPr>
          <p:nvPr/>
        </p:nvSpPr>
        <p:spPr>
          <a:xfrm xmlns:a="http://schemas.openxmlformats.org/drawingml/2006/main">
            <a:off x="8029575" y="3829050"/>
            <a:ext cx="3000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3666B"/>
                </a:solidFill>
                <a:latin typeface="Arial"/>
                <a:ea typeface="Arial"/>
                <a:cs typeface="Arial"/>
              </a:defRPr>
            </a:pPr>
            <a:r>
              <a:rPr sz="1425" b="0" i="0">
                <a:solidFill>
                  <a:srgbClr val="53666B"/>
                </a:solidFill>
                <a:latin typeface="Arial"/>
                <a:ea typeface="Arial"/>
                <a:cs typeface="Arial"/>
              </a:rPr>
              <a:t>Route matching, fare arithmetic, seat selection, form events and browser storage drive the flow.</a:t>
            </a:r>
          </a:p>
        </p:txBody>
      </p:sp>
      <p:sp>
        <p:nvSpPr>
          <p:cNvPr id="18" name="architecture-footer">
            <a:extLst xmlns:a="http://schemas.openxmlformats.org/drawingml/2006/main">
              <a:ext uri="{FF2B5EF4-FFF2-40B4-BE49-F238E27FC236}">
                <a16:creationId xmlns:a16="http://schemas.microsoft.com/office/drawing/2014/main" id="{FB317EF3-B3A4-4C2F-B122-B496811BB106}"/>
              </a:ext>
            </a:extLst>
          </p:cNvPr>
          <p:cNvSpPr>
            <a:spLocks xmlns:a="http://schemas.openxmlformats.org/drawingml/2006/main" noGrp="1"/>
          </p:cNvSpPr>
          <p:nvPr/>
        </p:nvSpPr>
        <p:spPr>
          <a:xfrm xmlns:a="http://schemas.openxmlformats.org/drawingml/2006/main">
            <a:off x="695325" y="5667375"/>
            <a:ext cx="638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718085"/>
                </a:solidFill>
                <a:latin typeface="Arial"/>
                <a:ea typeface="Arial"/>
                <a:cs typeface="Arial"/>
              </a:defRPr>
            </a:pPr>
            <a:r>
              <a:rPr sz="1050" b="0" i="0">
                <a:solidFill>
                  <a:srgbClr val="718085"/>
                </a:solidFill>
                <a:latin typeface="Arial"/>
                <a:ea typeface="Arial"/>
                <a:cs typeface="Arial"/>
              </a:rPr>
              <a:t>index.html   /   style.css   /   script.js</a:t>
            </a:r>
          </a:p>
        </p:txBody>
      </p:sp>
    </p:spTree>
    <p:extLst>
      <p:ext uri="{BB962C8B-B14F-4D97-AF65-F5344CB8AC3E}">
        <p14:creationId xmlns:p14="http://schemas.microsoft.com/office/powerpoint/2010/main" val="433225335"/>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FB8805DC-9070-4237-830A-009F7CA51091}"/>
              </a:ext>
            </a:extLst>
          </p:cNvPr>
          <p:cNvSpPr>
            <a:spLocks xmlns:a="http://schemas.openxmlformats.org/drawingml/2006/main" noGrp="1"/>
          </p:cNvSpPr>
          <p:nvPr/>
        </p:nvSpPr>
        <p:spPr>
          <a:xfrm xmlns:a="http://schemas.openxmlformats.org/drawingml/2006/main">
            <a:off x="666750" y="4572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45B50"/>
                </a:solidFill>
                <a:latin typeface="Arial"/>
                <a:ea typeface="Arial"/>
                <a:cs typeface="Arial"/>
              </a:defRPr>
            </a:pPr>
            <a:r>
              <a:rPr sz="975" b="1" i="0">
                <a:solidFill>
                  <a:srgbClr val="245B50"/>
                </a:solidFill>
                <a:latin typeface="Arial"/>
                <a:ea typeface="Arial"/>
                <a:cs typeface="Arial"/>
              </a:rPr>
              <a:t>COURSE CONCEPTS</a:t>
            </a:r>
          </a:p>
        </p:txBody>
      </p:sp>
      <p:sp>
        <p:nvSpPr>
          <p:cNvPr id="2" name="slide-title">
            <a:extLst xmlns:a="http://schemas.openxmlformats.org/drawingml/2006/main">
              <a:ext uri="{FF2B5EF4-FFF2-40B4-BE49-F238E27FC236}">
                <a16:creationId xmlns:a16="http://schemas.microsoft.com/office/drawing/2014/main" id="{46776060-7EF6-4646-95C9-A67F2BB8B2A5}"/>
              </a:ext>
            </a:extLst>
          </p:cNvPr>
          <p:cNvSpPr>
            <a:spLocks xmlns:a="http://schemas.openxmlformats.org/drawingml/2006/main" noGrp="1"/>
          </p:cNvSpPr>
          <p:nvPr/>
        </p:nvSpPr>
        <p:spPr>
          <a:xfrm xmlns:a="http://schemas.openxmlformats.org/drawingml/2006/main">
            <a:off x="666750" y="790575"/>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172D34"/>
                </a:solidFill>
                <a:latin typeface="Arial"/>
                <a:ea typeface="Arial"/>
                <a:cs typeface="Arial"/>
              </a:defRPr>
            </a:pPr>
            <a:r>
              <a:rPr sz="3225" b="1" i="0">
                <a:solidFill>
                  <a:srgbClr val="172D34"/>
                </a:solidFill>
                <a:latin typeface="Arial"/>
                <a:ea typeface="Arial"/>
                <a:cs typeface="Arial"/>
              </a:rPr>
              <a:t>Topics from the coaching files, used in one project.</a:t>
            </a:r>
          </a:p>
        </p:txBody>
      </p:sp>
      <p:sp>
        <p:nvSpPr>
          <p:cNvPr id="3" name="slide-subtitle">
            <a:extLst xmlns:a="http://schemas.openxmlformats.org/drawingml/2006/main">
              <a:ext uri="{FF2B5EF4-FFF2-40B4-BE49-F238E27FC236}">
                <a16:creationId xmlns:a16="http://schemas.microsoft.com/office/drawing/2014/main" id="{A6DF16B3-CBBE-4725-8AAC-DF4AC432C658}"/>
              </a:ext>
            </a:extLst>
          </p:cNvPr>
          <p:cNvSpPr>
            <a:spLocks xmlns:a="http://schemas.openxmlformats.org/drawingml/2006/main" noGrp="1"/>
          </p:cNvSpPr>
          <p:nvPr/>
        </p:nvSpPr>
        <p:spPr>
          <a:xfrm xmlns:a="http://schemas.openxmlformats.org/drawingml/2006/main">
            <a:off x="685800" y="143827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66B"/>
                </a:solidFill>
                <a:latin typeface="Arial"/>
                <a:ea typeface="Arial"/>
                <a:cs typeface="Arial"/>
              </a:defRPr>
            </a:pPr>
            <a:r>
              <a:rPr sz="1500" b="0" i="0">
                <a:solidFill>
                  <a:srgbClr val="53666B"/>
                </a:solidFill>
                <a:latin typeface="Arial"/>
                <a:ea typeface="Arial"/>
                <a:cs typeface="Arial"/>
              </a:rPr>
              <a:t>The booking flow connects foundational syntax to browser interactions.</a:t>
            </a:r>
          </a:p>
        </p:txBody>
      </p:sp>
      <p:sp>
        <p:nvSpPr>
          <p:cNvPr id="4" name="">
            <a:extLst xmlns:a="http://schemas.openxmlformats.org/drawingml/2006/main">
              <a:ext uri="{FF2B5EF4-FFF2-40B4-BE49-F238E27FC236}">
                <a16:creationId xmlns:a16="http://schemas.microsoft.com/office/drawing/2014/main" id="{9642DD4B-4CE7-4B23-9A32-71BDF7A84B6D}"/>
              </a:ext>
            </a:extLst>
          </p:cNvPr>
          <p:cNvSpPr>
            <a:spLocks xmlns:a="http://schemas.openxmlformats.org/drawingml/2006/main" noGrp="1"/>
          </p:cNvSpPr>
          <p:nvPr/>
        </p:nvSpPr>
        <p:spPr>
          <a:xfrm xmlns:a="http://schemas.openxmlformats.org/drawingml/2006/main">
            <a:off x="695325" y="2324100"/>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5" name="concept-tag-HTML">
            <a:extLst xmlns:a="http://schemas.openxmlformats.org/drawingml/2006/main">
              <a:ext uri="{FF2B5EF4-FFF2-40B4-BE49-F238E27FC236}">
                <a16:creationId xmlns:a16="http://schemas.microsoft.com/office/drawing/2014/main" id="{FB606F33-AD5F-438B-8BA4-13D46F0A4633}"/>
              </a:ext>
            </a:extLst>
          </p:cNvPr>
          <p:cNvSpPr>
            <a:spLocks xmlns:a="http://schemas.openxmlformats.org/drawingml/2006/main" noGrp="1"/>
          </p:cNvSpPr>
          <p:nvPr/>
        </p:nvSpPr>
        <p:spPr>
          <a:xfrm xmlns:a="http://schemas.openxmlformats.org/drawingml/2006/main">
            <a:off x="704850" y="2505075"/>
            <a:ext cx="1485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HTML</a:t>
            </a:r>
          </a:p>
        </p:txBody>
      </p:sp>
      <p:sp>
        <p:nvSpPr>
          <p:cNvPr id="6" name="concept-title-HTML">
            <a:extLst xmlns:a="http://schemas.openxmlformats.org/drawingml/2006/main">
              <a:ext uri="{FF2B5EF4-FFF2-40B4-BE49-F238E27FC236}">
                <a16:creationId xmlns:a16="http://schemas.microsoft.com/office/drawing/2014/main" id="{64840EA3-A304-4D60-B718-E3A7E3235A26}"/>
              </a:ext>
            </a:extLst>
          </p:cNvPr>
          <p:cNvSpPr>
            <a:spLocks xmlns:a="http://schemas.openxmlformats.org/drawingml/2006/main" noGrp="1"/>
          </p:cNvSpPr>
          <p:nvPr/>
        </p:nvSpPr>
        <p:spPr>
          <a:xfrm xmlns:a="http://schemas.openxmlformats.org/drawingml/2006/main">
            <a:off x="2457450" y="2476500"/>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72D34"/>
                </a:solidFill>
                <a:latin typeface="Arial"/>
                <a:ea typeface="Arial"/>
                <a:cs typeface="Arial"/>
              </a:defRPr>
            </a:pPr>
            <a:r>
              <a:rPr sz="1500" b="1" i="0">
                <a:solidFill>
                  <a:srgbClr val="172D34"/>
                </a:solidFill>
                <a:latin typeface="Arial"/>
                <a:ea typeface="Arial"/>
                <a:cs typeface="Arial"/>
              </a:rPr>
              <a:t>Forms and semantic structure</a:t>
            </a:r>
          </a:p>
        </p:txBody>
      </p:sp>
      <p:sp>
        <p:nvSpPr>
          <p:cNvPr id="7" name="concept-detail-HTML">
            <a:extLst xmlns:a="http://schemas.openxmlformats.org/drawingml/2006/main">
              <a:ext uri="{FF2B5EF4-FFF2-40B4-BE49-F238E27FC236}">
                <a16:creationId xmlns:a16="http://schemas.microsoft.com/office/drawing/2014/main" id="{5354DFD5-1DC1-49D4-9AF4-5AD52FD09539}"/>
              </a:ext>
            </a:extLst>
          </p:cNvPr>
          <p:cNvSpPr>
            <a:spLocks xmlns:a="http://schemas.openxmlformats.org/drawingml/2006/main" noGrp="1"/>
          </p:cNvSpPr>
          <p:nvPr/>
        </p:nvSpPr>
        <p:spPr>
          <a:xfrm xmlns:a="http://schemas.openxmlformats.org/drawingml/2006/main">
            <a:off x="6191250" y="2486025"/>
            <a:ext cx="5162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Landmarks, navigation, labels, selects, passenger fields and validation attributes.</a:t>
            </a:r>
          </a:p>
        </p:txBody>
      </p:sp>
      <p:sp>
        <p:nvSpPr>
          <p:cNvPr id="8" name="">
            <a:extLst xmlns:a="http://schemas.openxmlformats.org/drawingml/2006/main">
              <a:ext uri="{FF2B5EF4-FFF2-40B4-BE49-F238E27FC236}">
                <a16:creationId xmlns:a16="http://schemas.microsoft.com/office/drawing/2014/main" id="{12EB166B-4B05-4CBF-9F5F-87E03BFAD36E}"/>
              </a:ext>
            </a:extLst>
          </p:cNvPr>
          <p:cNvSpPr>
            <a:spLocks xmlns:a="http://schemas.openxmlformats.org/drawingml/2006/main" noGrp="1"/>
          </p:cNvSpPr>
          <p:nvPr/>
        </p:nvSpPr>
        <p:spPr>
          <a:xfrm xmlns:a="http://schemas.openxmlformats.org/drawingml/2006/main">
            <a:off x="695325" y="3171825"/>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9" name="concept-tag-CSS">
            <a:extLst xmlns:a="http://schemas.openxmlformats.org/drawingml/2006/main">
              <a:ext uri="{FF2B5EF4-FFF2-40B4-BE49-F238E27FC236}">
                <a16:creationId xmlns:a16="http://schemas.microsoft.com/office/drawing/2014/main" id="{BF80AFE5-6E4A-44BA-B7A3-8B6EE774403C}"/>
              </a:ext>
            </a:extLst>
          </p:cNvPr>
          <p:cNvSpPr>
            <a:spLocks xmlns:a="http://schemas.openxmlformats.org/drawingml/2006/main" noGrp="1"/>
          </p:cNvSpPr>
          <p:nvPr/>
        </p:nvSpPr>
        <p:spPr>
          <a:xfrm xmlns:a="http://schemas.openxmlformats.org/drawingml/2006/main">
            <a:off x="704850" y="3352800"/>
            <a:ext cx="1485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CSS</a:t>
            </a:r>
          </a:p>
        </p:txBody>
      </p:sp>
      <p:sp>
        <p:nvSpPr>
          <p:cNvPr id="10" name="concept-title-CSS">
            <a:extLst xmlns:a="http://schemas.openxmlformats.org/drawingml/2006/main">
              <a:ext uri="{FF2B5EF4-FFF2-40B4-BE49-F238E27FC236}">
                <a16:creationId xmlns:a16="http://schemas.microsoft.com/office/drawing/2014/main" id="{6AF59D8C-3CC4-480C-B6BA-1650F45FF042}"/>
              </a:ext>
            </a:extLst>
          </p:cNvPr>
          <p:cNvSpPr>
            <a:spLocks xmlns:a="http://schemas.openxmlformats.org/drawingml/2006/main" noGrp="1"/>
          </p:cNvSpPr>
          <p:nvPr/>
        </p:nvSpPr>
        <p:spPr>
          <a:xfrm xmlns:a="http://schemas.openxmlformats.org/drawingml/2006/main">
            <a:off x="2457450" y="3324225"/>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72D34"/>
                </a:solidFill>
                <a:latin typeface="Arial"/>
                <a:ea typeface="Arial"/>
                <a:cs typeface="Arial"/>
              </a:defRPr>
            </a:pPr>
            <a:r>
              <a:rPr sz="1500" b="1" i="0">
                <a:solidFill>
                  <a:srgbClr val="172D34"/>
                </a:solidFill>
                <a:latin typeface="Arial"/>
                <a:ea typeface="Arial"/>
                <a:cs typeface="Arial"/>
              </a:rPr>
              <a:t>Layout and responsive styling</a:t>
            </a:r>
          </a:p>
        </p:txBody>
      </p:sp>
      <p:sp>
        <p:nvSpPr>
          <p:cNvPr id="11" name="concept-detail-CSS">
            <a:extLst xmlns:a="http://schemas.openxmlformats.org/drawingml/2006/main">
              <a:ext uri="{FF2B5EF4-FFF2-40B4-BE49-F238E27FC236}">
                <a16:creationId xmlns:a16="http://schemas.microsoft.com/office/drawing/2014/main" id="{CA3854B7-689B-4848-ACC1-C3F5CE1C05F7}"/>
              </a:ext>
            </a:extLst>
          </p:cNvPr>
          <p:cNvSpPr>
            <a:spLocks xmlns:a="http://schemas.openxmlformats.org/drawingml/2006/main" noGrp="1"/>
          </p:cNvSpPr>
          <p:nvPr/>
        </p:nvSpPr>
        <p:spPr>
          <a:xfrm xmlns:a="http://schemas.openxmlformats.org/drawingml/2006/main">
            <a:off x="6191250" y="3333750"/>
            <a:ext cx="5162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Selectors, box model, Flexbox, Grid, pseudo-classes, gradients, transitions and media queries.</a:t>
            </a:r>
          </a:p>
        </p:txBody>
      </p:sp>
      <p:sp>
        <p:nvSpPr>
          <p:cNvPr id="12" name="">
            <a:extLst xmlns:a="http://schemas.openxmlformats.org/drawingml/2006/main">
              <a:ext uri="{FF2B5EF4-FFF2-40B4-BE49-F238E27FC236}">
                <a16:creationId xmlns:a16="http://schemas.microsoft.com/office/drawing/2014/main" id="{831BA12B-5AFD-4C27-8A44-02C0813B8FD1}"/>
              </a:ext>
            </a:extLst>
          </p:cNvPr>
          <p:cNvSpPr>
            <a:spLocks xmlns:a="http://schemas.openxmlformats.org/drawingml/2006/main" noGrp="1"/>
          </p:cNvSpPr>
          <p:nvPr/>
        </p:nvSpPr>
        <p:spPr>
          <a:xfrm xmlns:a="http://schemas.openxmlformats.org/drawingml/2006/main">
            <a:off x="695325" y="4019550"/>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3" name="concept-tag-JAVASCRIPT">
            <a:extLst xmlns:a="http://schemas.openxmlformats.org/drawingml/2006/main">
              <a:ext uri="{FF2B5EF4-FFF2-40B4-BE49-F238E27FC236}">
                <a16:creationId xmlns:a16="http://schemas.microsoft.com/office/drawing/2014/main" id="{59B3D5E4-171F-4D0F-A249-81453A5A05DE}"/>
              </a:ext>
            </a:extLst>
          </p:cNvPr>
          <p:cNvSpPr>
            <a:spLocks xmlns:a="http://schemas.openxmlformats.org/drawingml/2006/main" noGrp="1"/>
          </p:cNvSpPr>
          <p:nvPr/>
        </p:nvSpPr>
        <p:spPr>
          <a:xfrm xmlns:a="http://schemas.openxmlformats.org/drawingml/2006/main">
            <a:off x="704850" y="4200525"/>
            <a:ext cx="1485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JAVASCRIPT</a:t>
            </a:r>
          </a:p>
        </p:txBody>
      </p:sp>
      <p:sp>
        <p:nvSpPr>
          <p:cNvPr id="14" name="concept-title-JAVASCRIPT">
            <a:extLst xmlns:a="http://schemas.openxmlformats.org/drawingml/2006/main">
              <a:ext uri="{FF2B5EF4-FFF2-40B4-BE49-F238E27FC236}">
                <a16:creationId xmlns:a16="http://schemas.microsoft.com/office/drawing/2014/main" id="{C996C7FC-B29A-4F54-95C6-BDF178727ADC}"/>
              </a:ext>
            </a:extLst>
          </p:cNvPr>
          <p:cNvSpPr>
            <a:spLocks xmlns:a="http://schemas.openxmlformats.org/drawingml/2006/main" noGrp="1"/>
          </p:cNvSpPr>
          <p:nvPr/>
        </p:nvSpPr>
        <p:spPr>
          <a:xfrm xmlns:a="http://schemas.openxmlformats.org/drawingml/2006/main">
            <a:off x="2457450" y="4171950"/>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72D34"/>
                </a:solidFill>
                <a:latin typeface="Arial"/>
                <a:ea typeface="Arial"/>
                <a:cs typeface="Arial"/>
              </a:defRPr>
            </a:pPr>
            <a:r>
              <a:rPr sz="1500" b="1" i="0">
                <a:solidFill>
                  <a:srgbClr val="172D34"/>
                </a:solidFill>
                <a:latin typeface="Arial"/>
                <a:ea typeface="Arial"/>
                <a:cs typeface="Arial"/>
              </a:rPr>
              <a:t>Data and program flow</a:t>
            </a:r>
          </a:p>
        </p:txBody>
      </p:sp>
      <p:sp>
        <p:nvSpPr>
          <p:cNvPr id="15" name="concept-detail-JAVASCRIPT">
            <a:extLst xmlns:a="http://schemas.openxmlformats.org/drawingml/2006/main">
              <a:ext uri="{FF2B5EF4-FFF2-40B4-BE49-F238E27FC236}">
                <a16:creationId xmlns:a16="http://schemas.microsoft.com/office/drawing/2014/main" id="{9FA52607-A60B-40EF-8141-FDE7B8D4BC74}"/>
              </a:ext>
            </a:extLst>
          </p:cNvPr>
          <p:cNvSpPr>
            <a:spLocks xmlns:a="http://schemas.openxmlformats.org/drawingml/2006/main" noGrp="1"/>
          </p:cNvSpPr>
          <p:nvPr/>
        </p:nvSpPr>
        <p:spPr>
          <a:xfrm xmlns:a="http://schemas.openxmlformats.org/drawingml/2006/main">
            <a:off x="6191250" y="4181475"/>
            <a:ext cx="5162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Variables, operators, conditions, loops, functions, strings, arrays, objects, spread and rest.</a:t>
            </a:r>
          </a:p>
        </p:txBody>
      </p:sp>
      <p:sp>
        <p:nvSpPr>
          <p:cNvPr id="16" name="">
            <a:extLst xmlns:a="http://schemas.openxmlformats.org/drawingml/2006/main">
              <a:ext uri="{FF2B5EF4-FFF2-40B4-BE49-F238E27FC236}">
                <a16:creationId xmlns:a16="http://schemas.microsoft.com/office/drawing/2014/main" id="{E3123A1C-0010-4E38-A758-3D171D145368}"/>
              </a:ext>
            </a:extLst>
          </p:cNvPr>
          <p:cNvSpPr>
            <a:spLocks xmlns:a="http://schemas.openxmlformats.org/drawingml/2006/main" noGrp="1"/>
          </p:cNvSpPr>
          <p:nvPr/>
        </p:nvSpPr>
        <p:spPr>
          <a:xfrm xmlns:a="http://schemas.openxmlformats.org/drawingml/2006/main">
            <a:off x="695325" y="4867275"/>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17" name="concept-tag-BROWSER">
            <a:extLst xmlns:a="http://schemas.openxmlformats.org/drawingml/2006/main">
              <a:ext uri="{FF2B5EF4-FFF2-40B4-BE49-F238E27FC236}">
                <a16:creationId xmlns:a16="http://schemas.microsoft.com/office/drawing/2014/main" id="{C21901AC-1E64-41D4-89CB-357484541397}"/>
              </a:ext>
            </a:extLst>
          </p:cNvPr>
          <p:cNvSpPr>
            <a:spLocks xmlns:a="http://schemas.openxmlformats.org/drawingml/2006/main" noGrp="1"/>
          </p:cNvSpPr>
          <p:nvPr/>
        </p:nvSpPr>
        <p:spPr>
          <a:xfrm xmlns:a="http://schemas.openxmlformats.org/drawingml/2006/main">
            <a:off x="704850" y="5048250"/>
            <a:ext cx="1485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45B50"/>
                </a:solidFill>
                <a:latin typeface="Arial"/>
                <a:ea typeface="Arial"/>
                <a:cs typeface="Arial"/>
              </a:defRPr>
            </a:pPr>
            <a:r>
              <a:rPr sz="900" b="1" i="0">
                <a:solidFill>
                  <a:srgbClr val="245B50"/>
                </a:solidFill>
                <a:latin typeface="Arial"/>
                <a:ea typeface="Arial"/>
                <a:cs typeface="Arial"/>
              </a:rPr>
              <a:t>BROWSER</a:t>
            </a:r>
          </a:p>
        </p:txBody>
      </p:sp>
      <p:sp>
        <p:nvSpPr>
          <p:cNvPr id="18" name="concept-title-BROWSER">
            <a:extLst xmlns:a="http://schemas.openxmlformats.org/drawingml/2006/main">
              <a:ext uri="{FF2B5EF4-FFF2-40B4-BE49-F238E27FC236}">
                <a16:creationId xmlns:a16="http://schemas.microsoft.com/office/drawing/2014/main" id="{B36DB87D-A41A-4DEF-9BF1-6835301ED0C0}"/>
              </a:ext>
            </a:extLst>
          </p:cNvPr>
          <p:cNvSpPr>
            <a:spLocks xmlns:a="http://schemas.openxmlformats.org/drawingml/2006/main" noGrp="1"/>
          </p:cNvSpPr>
          <p:nvPr/>
        </p:nvSpPr>
        <p:spPr>
          <a:xfrm xmlns:a="http://schemas.openxmlformats.org/drawingml/2006/main">
            <a:off x="2457450" y="5019675"/>
            <a:ext cx="3590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72D34"/>
                </a:solidFill>
                <a:latin typeface="Arial"/>
                <a:ea typeface="Arial"/>
                <a:cs typeface="Arial"/>
              </a:defRPr>
            </a:pPr>
            <a:r>
              <a:rPr sz="1500" b="1" i="0">
                <a:solidFill>
                  <a:srgbClr val="172D34"/>
                </a:solidFill>
                <a:latin typeface="Arial"/>
                <a:ea typeface="Arial"/>
                <a:cs typeface="Arial"/>
              </a:rPr>
              <a:t>DOM, storage and async code</a:t>
            </a:r>
          </a:p>
        </p:txBody>
      </p:sp>
      <p:sp>
        <p:nvSpPr>
          <p:cNvPr id="19" name="concept-detail-BROWSER">
            <a:extLst xmlns:a="http://schemas.openxmlformats.org/drawingml/2006/main">
              <a:ext uri="{FF2B5EF4-FFF2-40B4-BE49-F238E27FC236}">
                <a16:creationId xmlns:a16="http://schemas.microsoft.com/office/drawing/2014/main" id="{A6C8E2ED-27C4-4937-8E0E-2DC16404A2C2}"/>
              </a:ext>
            </a:extLst>
          </p:cNvPr>
          <p:cNvSpPr>
            <a:spLocks xmlns:a="http://schemas.openxmlformats.org/drawingml/2006/main" noGrp="1"/>
          </p:cNvSpPr>
          <p:nvPr/>
        </p:nvSpPr>
        <p:spPr>
          <a:xfrm xmlns:a="http://schemas.openxmlformats.org/drawingml/2006/main">
            <a:off x="6191250" y="5029200"/>
            <a:ext cx="5162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3666B"/>
                </a:solidFill>
                <a:latin typeface="Arial"/>
                <a:ea typeface="Arial"/>
                <a:cs typeface="Arial"/>
              </a:defRPr>
            </a:pPr>
            <a:r>
              <a:rPr sz="1125" b="0" i="0">
                <a:solidFill>
                  <a:srgbClr val="53666B"/>
                </a:solidFill>
                <a:latin typeface="Arial"/>
                <a:ea typeface="Arial"/>
                <a:cs typeface="Arial"/>
              </a:rPr>
              <a:t>Events, closures, localStorage, Promises, async/await, setTimeout and try/catch.</a:t>
            </a:r>
          </a:p>
        </p:txBody>
      </p:sp>
      <p:sp>
        <p:nvSpPr>
          <p:cNvPr id="20" name="">
            <a:extLst xmlns:a="http://schemas.openxmlformats.org/drawingml/2006/main">
              <a:ext uri="{FF2B5EF4-FFF2-40B4-BE49-F238E27FC236}">
                <a16:creationId xmlns:a16="http://schemas.microsoft.com/office/drawing/2014/main" id="{6E27A8F1-E051-4FA3-AAF8-F968179E0D12}"/>
              </a:ext>
            </a:extLst>
          </p:cNvPr>
          <p:cNvSpPr>
            <a:spLocks xmlns:a="http://schemas.openxmlformats.org/drawingml/2006/main" noGrp="1"/>
          </p:cNvSpPr>
          <p:nvPr/>
        </p:nvSpPr>
        <p:spPr>
          <a:xfrm xmlns:a="http://schemas.openxmlformats.org/drawingml/2006/main">
            <a:off x="695325" y="5715000"/>
            <a:ext cx="10801350" cy="9525"/>
          </a:xfrm>
          <a:prstGeom xmlns:a="http://schemas.openxmlformats.org/drawingml/2006/main" prst="rect">
            <a:avLst/>
          </a:prstGeom>
          <a:solidFill xmlns:a="http://schemas.openxmlformats.org/drawingml/2006/main">
            <a:srgbClr val="D8DDD6"/>
          </a:solidFill>
          <a:ln xmlns:a="http://schemas.openxmlformats.org/drawingml/2006/main" w="0">
            <a:noFill/>
          </a:ln>
        </p:spPr>
      </p:sp>
      <p:sp>
        <p:nvSpPr>
          <p:cNvPr id="21" name="concept-source">
            <a:extLst xmlns:a="http://schemas.openxmlformats.org/drawingml/2006/main">
              <a:ext uri="{FF2B5EF4-FFF2-40B4-BE49-F238E27FC236}">
                <a16:creationId xmlns:a16="http://schemas.microsoft.com/office/drawing/2014/main" id="{5CC67D0A-B499-4202-BFA0-22F297427DEE}"/>
              </a:ext>
            </a:extLst>
          </p:cNvPr>
          <p:cNvSpPr>
            <a:spLocks xmlns:a="http://schemas.openxmlformats.org/drawingml/2006/main" noGrp="1"/>
          </p:cNvSpPr>
          <p:nvPr/>
        </p:nvSpPr>
        <p:spPr>
          <a:xfrm xmlns:a="http://schemas.openxmlformats.org/drawingml/2006/main">
            <a:off x="704850" y="59055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718085"/>
                </a:solidFill>
                <a:latin typeface="Arial"/>
                <a:ea typeface="Arial"/>
                <a:cs typeface="Arial"/>
              </a:defRPr>
            </a:pPr>
            <a:r>
              <a:rPr sz="900" b="0" i="0">
                <a:solidFill>
                  <a:srgbClr val="718085"/>
                </a:solidFill>
                <a:latin typeface="Arial"/>
                <a:ea typeface="Arial"/>
                <a:cs typeface="Arial"/>
              </a:rPr>
              <a:t>Concept mapping follows the supplied JS.zip coaching examples and day notes.</a:t>
            </a:r>
          </a:p>
        </p:txBody>
      </p:sp>
    </p:spTree>
    <p:extLst>
      <p:ext uri="{BB962C8B-B14F-4D97-AF65-F5344CB8AC3E}">
        <p14:creationId xmlns:p14="http://schemas.microsoft.com/office/powerpoint/2010/main" val="405910690"/>
      </p:ext>
    </p:extLst>
  </p:cSld>
</p:sld>
</file>

<file path=ppt/slides/slide9.xml><?xml version="1.0" encoding="utf-8"?>
<p:sld xmlns:p="http://schemas.openxmlformats.org/presentationml/2006/main">
  <p:cSld>
    <p:bg>
      <p:bgPr>
        <a:solidFill xmlns:a="http://schemas.openxmlformats.org/drawingml/2006/main">
          <a:srgbClr val="1C493F"/>
        </a:solidFill>
      </p:bgPr>
    </p:bg>
    <p:spTree>
      <p:nvGrpSpPr>
        <p:cNvPr id="1" name=""/>
        <p:cNvGrpSpPr/>
        <p:nvPr/>
      </p:nvGrpSpPr>
      <p:grpSpPr>
        <a:xfrm xmlns:a="http://schemas.openxmlformats.org/drawingml/2006/main"/>
      </p:grpSpPr>
      <p:sp>
        <p:nvSpPr>
          <p:cNvPr id="10" name="scope-label">
            <a:extLst xmlns:a="http://schemas.openxmlformats.org/drawingml/2006/main">
              <a:ext uri="{FF2B5EF4-FFF2-40B4-BE49-F238E27FC236}">
                <a16:creationId xmlns:a16="http://schemas.microsoft.com/office/drawing/2014/main" id="{63FD2B8A-91F3-4227-8C1E-ACAD0CAE8D48}"/>
              </a:ext>
            </a:extLst>
          </p:cNvPr>
          <p:cNvSpPr>
            <a:spLocks xmlns:a="http://schemas.openxmlformats.org/drawingml/2006/main" noGrp="1"/>
          </p:cNvSpPr>
          <p:nvPr/>
        </p:nvSpPr>
        <p:spPr>
          <a:xfrm xmlns:a="http://schemas.openxmlformats.org/drawingml/2006/main">
            <a:off x="704850" y="523875"/>
            <a:ext cx="447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DCC99E"/>
                </a:solidFill>
                <a:latin typeface="Arial"/>
                <a:ea typeface="Arial"/>
                <a:cs typeface="Arial"/>
              </a:defRPr>
            </a:pPr>
            <a:r>
              <a:rPr sz="975" b="1" i="0">
                <a:solidFill>
                  <a:srgbClr val="DCC99E"/>
                </a:solidFill>
                <a:latin typeface="Arial"/>
                <a:ea typeface="Arial"/>
                <a:cs typeface="Arial"/>
              </a:rPr>
              <a:t>PROJECT SCOPE</a:t>
            </a:r>
          </a:p>
        </p:txBody>
      </p:sp>
      <p:sp>
        <p:nvSpPr>
          <p:cNvPr id="2" name="scope-title">
            <a:extLst xmlns:a="http://schemas.openxmlformats.org/drawingml/2006/main">
              <a:ext uri="{FF2B5EF4-FFF2-40B4-BE49-F238E27FC236}">
                <a16:creationId xmlns:a16="http://schemas.microsoft.com/office/drawing/2014/main" id="{FA3CF779-EE54-44B9-9F35-B6BDB5E8C5F7}"/>
              </a:ext>
            </a:extLst>
          </p:cNvPr>
          <p:cNvSpPr>
            <a:spLocks xmlns:a="http://schemas.openxmlformats.org/drawingml/2006/main" noGrp="1"/>
          </p:cNvSpPr>
          <p:nvPr/>
        </p:nvSpPr>
        <p:spPr>
          <a:xfrm xmlns:a="http://schemas.openxmlformats.org/drawingml/2006/main">
            <a:off x="685800" y="914400"/>
            <a:ext cx="809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FFFEFA"/>
                </a:solidFill>
                <a:latin typeface="Arial"/>
                <a:ea typeface="Arial"/>
                <a:cs typeface="Arial"/>
              </a:defRPr>
            </a:pPr>
            <a:r>
              <a:rPr sz="3450" b="1" i="0">
                <a:solidFill>
                  <a:srgbClr val="FFFEFA"/>
                </a:solidFill>
                <a:latin typeface="Arial"/>
                <a:ea typeface="Arial"/>
                <a:cs typeface="Arial"/>
              </a:rPr>
              <a:t>A complete demo flow.</a:t>
            </a:r>
          </a:p>
          <a:p xmlns:a="http://schemas.openxmlformats.org/drawingml/2006/main">
            <a:pPr algn="l">
              <a:defRPr sz="3450" b="1" i="0">
                <a:solidFill>
                  <a:srgbClr val="FFFEFA"/>
                </a:solidFill>
                <a:latin typeface="Arial"/>
                <a:ea typeface="Arial"/>
                <a:cs typeface="Arial"/>
              </a:defRPr>
            </a:pPr>
            <a:r>
              <a:rPr sz="3450" b="1" i="0">
                <a:solidFill>
                  <a:srgbClr val="FFFEFA"/>
                </a:solidFill>
                <a:latin typeface="Arial"/>
                <a:ea typeface="Arial"/>
                <a:cs typeface="Arial"/>
              </a:rPr>
              <a:t>A clear line to production.</a:t>
            </a:r>
          </a:p>
        </p:txBody>
      </p:sp>
      <p:sp>
        <p:nvSpPr>
          <p:cNvPr id="3" name="scope-demo-label">
            <a:extLst xmlns:a="http://schemas.openxmlformats.org/drawingml/2006/main">
              <a:ext uri="{FF2B5EF4-FFF2-40B4-BE49-F238E27FC236}">
                <a16:creationId xmlns:a16="http://schemas.microsoft.com/office/drawing/2014/main" id="{CD5A208B-CD1C-4B5C-A1C1-30C38DD395F9}"/>
              </a:ext>
            </a:extLst>
          </p:cNvPr>
          <p:cNvSpPr>
            <a:spLocks xmlns:a="http://schemas.openxmlformats.org/drawingml/2006/main" noGrp="1"/>
          </p:cNvSpPr>
          <p:nvPr/>
        </p:nvSpPr>
        <p:spPr>
          <a:xfrm xmlns:a="http://schemas.openxmlformats.org/drawingml/2006/main">
            <a:off x="723900" y="25908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DCC99E"/>
                </a:solidFill>
                <a:latin typeface="Arial"/>
                <a:ea typeface="Arial"/>
                <a:cs typeface="Arial"/>
              </a:defRPr>
            </a:pPr>
            <a:r>
              <a:rPr sz="900" b="1" i="0">
                <a:solidFill>
                  <a:srgbClr val="DCC99E"/>
                </a:solidFill>
                <a:latin typeface="Arial"/>
                <a:ea typeface="Arial"/>
                <a:cs typeface="Arial"/>
              </a:rPr>
              <a:t>IN THIS PROJECT</a:t>
            </a:r>
          </a:p>
        </p:txBody>
      </p:sp>
      <p:sp>
        <p:nvSpPr>
          <p:cNvPr id="4" name="scope-demo">
            <a:extLst xmlns:a="http://schemas.openxmlformats.org/drawingml/2006/main">
              <a:ext uri="{FF2B5EF4-FFF2-40B4-BE49-F238E27FC236}">
                <a16:creationId xmlns:a16="http://schemas.microsoft.com/office/drawing/2014/main" id="{68DE1759-8575-4E99-AF71-C19CE0BD9ED4}"/>
              </a:ext>
            </a:extLst>
          </p:cNvPr>
          <p:cNvSpPr>
            <a:spLocks xmlns:a="http://schemas.openxmlformats.org/drawingml/2006/main" noGrp="1"/>
          </p:cNvSpPr>
          <p:nvPr/>
        </p:nvSpPr>
        <p:spPr>
          <a:xfrm xmlns:a="http://schemas.openxmlformats.org/drawingml/2006/main">
            <a:off x="723900" y="2943225"/>
            <a:ext cx="42386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FFFEFA"/>
                </a:solidFill>
                <a:latin typeface="Arial"/>
                <a:ea typeface="Arial"/>
                <a:cs typeface="Arial"/>
              </a:defRPr>
            </a:pPr>
            <a:r>
              <a:rPr sz="1725" b="0" i="0">
                <a:solidFill>
                  <a:srgbClr val="FFFEFA"/>
                </a:solidFill>
                <a:latin typeface="Arial"/>
                <a:ea typeface="Arial"/>
                <a:cs typeface="Arial"/>
              </a:rPr>
              <a:t>Search sample routes</a:t>
            </a:r>
          </a:p>
          <a:p xmlns:a="http://schemas.openxmlformats.org/drawingml/2006/main">
            <a:pPr algn="l">
              <a:defRPr sz="1725" b="0" i="0">
                <a:solidFill>
                  <a:srgbClr val="FFFEFA"/>
                </a:solidFill>
                <a:latin typeface="Arial"/>
                <a:ea typeface="Arial"/>
                <a:cs typeface="Arial"/>
              </a:defRPr>
            </a:pPr>
            <a:r>
              <a:rPr sz="1725" b="0" i="0">
                <a:solidFill>
                  <a:srgbClr val="FFFEFA"/>
                </a:solidFill>
                <a:latin typeface="Arial"/>
                <a:ea typeface="Arial"/>
                <a:cs typeface="Arial"/>
              </a:rPr>
              <a:t>Select seats and class</a:t>
            </a:r>
          </a:p>
          <a:p xmlns:a="http://schemas.openxmlformats.org/drawingml/2006/main">
            <a:pPr algn="l">
              <a:defRPr sz="1725" b="0" i="0">
                <a:solidFill>
                  <a:srgbClr val="FFFEFA"/>
                </a:solidFill>
                <a:latin typeface="Arial"/>
                <a:ea typeface="Arial"/>
                <a:cs typeface="Arial"/>
              </a:defRPr>
            </a:pPr>
            <a:r>
              <a:rPr sz="1725" b="0" i="0">
                <a:solidFill>
                  <a:srgbClr val="FFFEFA"/>
                </a:solidFill>
                <a:latin typeface="Arial"/>
                <a:ea typeface="Arial"/>
                <a:cs typeface="Arial"/>
              </a:rPr>
              <a:t>Calculate a fare</a:t>
            </a:r>
          </a:p>
          <a:p xmlns:a="http://schemas.openxmlformats.org/drawingml/2006/main">
            <a:pPr algn="l">
              <a:defRPr sz="1725" b="0" i="0">
                <a:solidFill>
                  <a:srgbClr val="FFFEFA"/>
                </a:solidFill>
                <a:latin typeface="Arial"/>
                <a:ea typeface="Arial"/>
                <a:cs typeface="Arial"/>
              </a:defRPr>
            </a:pPr>
            <a:r>
              <a:rPr sz="1725" b="0" i="0">
                <a:solidFill>
                  <a:srgbClr val="FFFEFA"/>
                </a:solidFill>
                <a:latin typeface="Arial"/>
                <a:ea typeface="Arial"/>
                <a:cs typeface="Arial"/>
              </a:rPr>
              <a:t>Save a local demo record</a:t>
            </a:r>
          </a:p>
        </p:txBody>
      </p:sp>
      <p:sp>
        <p:nvSpPr>
          <p:cNvPr id="5" name="">
            <a:extLst xmlns:a="http://schemas.openxmlformats.org/drawingml/2006/main">
              <a:ext uri="{FF2B5EF4-FFF2-40B4-BE49-F238E27FC236}">
                <a16:creationId xmlns:a16="http://schemas.microsoft.com/office/drawing/2014/main" id="{295DD6A0-0408-49FC-871E-A70C16A080D5}"/>
              </a:ext>
            </a:extLst>
          </p:cNvPr>
          <p:cNvSpPr>
            <a:spLocks xmlns:a="http://schemas.openxmlformats.org/drawingml/2006/main" noGrp="1"/>
          </p:cNvSpPr>
          <p:nvPr/>
        </p:nvSpPr>
        <p:spPr>
          <a:xfrm xmlns:a="http://schemas.openxmlformats.org/drawingml/2006/main">
            <a:off x="6115050" y="2581275"/>
            <a:ext cx="9525" cy="2638425"/>
          </a:xfrm>
          <a:prstGeom xmlns:a="http://schemas.openxmlformats.org/drawingml/2006/main" prst="rect">
            <a:avLst/>
          </a:prstGeom>
          <a:solidFill xmlns:a="http://schemas.openxmlformats.org/drawingml/2006/main">
            <a:srgbClr val="547169"/>
          </a:solidFill>
          <a:ln xmlns:a="http://schemas.openxmlformats.org/drawingml/2006/main" w="0">
            <a:noFill/>
          </a:ln>
        </p:spPr>
      </p:sp>
      <p:sp>
        <p:nvSpPr>
          <p:cNvPr id="6" name="scope-next-label">
            <a:extLst xmlns:a="http://schemas.openxmlformats.org/drawingml/2006/main">
              <a:ext uri="{FF2B5EF4-FFF2-40B4-BE49-F238E27FC236}">
                <a16:creationId xmlns:a16="http://schemas.microsoft.com/office/drawing/2014/main" id="{41413A5B-5E95-49D5-8ED6-CA5571DACCF1}"/>
              </a:ext>
            </a:extLst>
          </p:cNvPr>
          <p:cNvSpPr>
            <a:spLocks xmlns:a="http://schemas.openxmlformats.org/drawingml/2006/main" noGrp="1"/>
          </p:cNvSpPr>
          <p:nvPr/>
        </p:nvSpPr>
        <p:spPr>
          <a:xfrm xmlns:a="http://schemas.openxmlformats.org/drawingml/2006/main">
            <a:off x="6648450" y="25908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DCC99E"/>
                </a:solidFill>
                <a:latin typeface="Arial"/>
                <a:ea typeface="Arial"/>
                <a:cs typeface="Arial"/>
              </a:defRPr>
            </a:pPr>
            <a:r>
              <a:rPr sz="900" b="1" i="0">
                <a:solidFill>
                  <a:srgbClr val="DCC99E"/>
                </a:solidFill>
                <a:latin typeface="Arial"/>
                <a:ea typeface="Arial"/>
                <a:cs typeface="Arial"/>
              </a:rPr>
              <a:t>BEFORE A LIVE SERVICE</a:t>
            </a:r>
          </a:p>
        </p:txBody>
      </p:sp>
      <p:sp>
        <p:nvSpPr>
          <p:cNvPr id="7" name="scope-next">
            <a:extLst xmlns:a="http://schemas.openxmlformats.org/drawingml/2006/main">
              <a:ext uri="{FF2B5EF4-FFF2-40B4-BE49-F238E27FC236}">
                <a16:creationId xmlns:a16="http://schemas.microsoft.com/office/drawing/2014/main" id="{D159472D-5BE0-40F5-9F20-25CF072E6527}"/>
              </a:ext>
            </a:extLst>
          </p:cNvPr>
          <p:cNvSpPr>
            <a:spLocks xmlns:a="http://schemas.openxmlformats.org/drawingml/2006/main" noGrp="1"/>
          </p:cNvSpPr>
          <p:nvPr/>
        </p:nvSpPr>
        <p:spPr>
          <a:xfrm xmlns:a="http://schemas.openxmlformats.org/drawingml/2006/main">
            <a:off x="6648450" y="2943225"/>
            <a:ext cx="4591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FFFEFA"/>
                </a:solidFill>
                <a:latin typeface="Arial"/>
                <a:ea typeface="Arial"/>
                <a:cs typeface="Arial"/>
              </a:defRPr>
            </a:pPr>
            <a:r>
              <a:rPr sz="1575" b="0" i="0">
                <a:solidFill>
                  <a:srgbClr val="FFFEFA"/>
                </a:solidFill>
                <a:latin typeface="Arial"/>
                <a:ea typeface="Arial"/>
                <a:cs typeface="Arial"/>
              </a:rPr>
              <a:t>Connect to verified schedules and inventory</a:t>
            </a:r>
          </a:p>
          <a:p xmlns:a="http://schemas.openxmlformats.org/drawingml/2006/main">
            <a:pPr algn="l">
              <a:defRPr sz="1575" b="0" i="0">
                <a:solidFill>
                  <a:srgbClr val="FFFEFA"/>
                </a:solidFill>
                <a:latin typeface="Arial"/>
                <a:ea typeface="Arial"/>
                <a:cs typeface="Arial"/>
              </a:defRPr>
            </a:pPr>
            <a:r>
              <a:rPr sz="1575" b="0" i="0">
                <a:solidFill>
                  <a:srgbClr val="FFFEFA"/>
                </a:solidFill>
                <a:latin typeface="Arial"/>
                <a:ea typeface="Arial"/>
                <a:cs typeface="Arial"/>
              </a:rPr>
              <a:t>Add a secure server and passenger accounts</a:t>
            </a:r>
          </a:p>
          <a:p xmlns:a="http://schemas.openxmlformats.org/drawingml/2006/main">
            <a:pPr algn="l">
              <a:defRPr sz="1575" b="0" i="0">
                <a:solidFill>
                  <a:srgbClr val="FFFEFA"/>
                </a:solidFill>
                <a:latin typeface="Arial"/>
                <a:ea typeface="Arial"/>
                <a:cs typeface="Arial"/>
              </a:defRPr>
            </a:pPr>
            <a:r>
              <a:rPr sz="1575" b="0" i="0">
                <a:solidFill>
                  <a:srgbClr val="FFFEFA"/>
                </a:solidFill>
                <a:latin typeface="Arial"/>
                <a:ea typeface="Arial"/>
                <a:cs typeface="Arial"/>
              </a:rPr>
              <a:t>Integrate real payment and booking services</a:t>
            </a:r>
          </a:p>
        </p:txBody>
      </p:sp>
      <p:sp>
        <p:nvSpPr>
          <p:cNvPr id="8" name="">
            <a:extLst xmlns:a="http://schemas.openxmlformats.org/drawingml/2006/main">
              <a:ext uri="{FF2B5EF4-FFF2-40B4-BE49-F238E27FC236}">
                <a16:creationId xmlns:a16="http://schemas.microsoft.com/office/drawing/2014/main" id="{F5F218E3-7D89-44B1-9E50-904E388A2931}"/>
              </a:ext>
            </a:extLst>
          </p:cNvPr>
          <p:cNvSpPr>
            <a:spLocks xmlns:a="http://schemas.openxmlformats.org/drawingml/2006/main" noGrp="1"/>
          </p:cNvSpPr>
          <p:nvPr/>
        </p:nvSpPr>
        <p:spPr>
          <a:xfrm xmlns:a="http://schemas.openxmlformats.org/drawingml/2006/main">
            <a:off x="723900" y="5276850"/>
            <a:ext cx="10744200" cy="9525"/>
          </a:xfrm>
          <a:prstGeom xmlns:a="http://schemas.openxmlformats.org/drawingml/2006/main" prst="rect">
            <a:avLst/>
          </a:prstGeom>
          <a:solidFill xmlns:a="http://schemas.openxmlformats.org/drawingml/2006/main">
            <a:srgbClr val="547169"/>
          </a:solidFill>
          <a:ln xmlns:a="http://schemas.openxmlformats.org/drawingml/2006/main" w="0">
            <a:noFill/>
          </a:ln>
        </p:spPr>
      </p:sp>
      <p:sp>
        <p:nvSpPr>
          <p:cNvPr id="9" name="scope-close">
            <a:extLst xmlns:a="http://schemas.openxmlformats.org/drawingml/2006/main">
              <a:ext uri="{FF2B5EF4-FFF2-40B4-BE49-F238E27FC236}">
                <a16:creationId xmlns:a16="http://schemas.microsoft.com/office/drawing/2014/main" id="{B9D09B8A-B3F7-4EF1-893D-42C7D7C44780}"/>
              </a:ext>
            </a:extLst>
          </p:cNvPr>
          <p:cNvSpPr>
            <a:spLocks xmlns:a="http://schemas.openxmlformats.org/drawingml/2006/main" noGrp="1"/>
          </p:cNvSpPr>
          <p:nvPr/>
        </p:nvSpPr>
        <p:spPr>
          <a:xfrm xmlns:a="http://schemas.openxmlformats.org/drawingml/2006/main">
            <a:off x="723900" y="55435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E4EAE4"/>
                </a:solidFill>
                <a:latin typeface="Arial"/>
                <a:ea typeface="Arial"/>
                <a:cs typeface="Arial"/>
              </a:defRPr>
            </a:pPr>
            <a:r>
              <a:rPr sz="1200" b="0" i="0">
                <a:solidFill>
                  <a:srgbClr val="E4EAE4"/>
                </a:solidFill>
                <a:latin typeface="Arial"/>
                <a:ea typeface="Arial"/>
                <a:cs typeface="Arial"/>
              </a:rPr>
              <a:t>Train Booking System  ·  HTML / CSS / JavaScript  ·  No live bookings</a:t>
            </a:r>
          </a:p>
        </p:txBody>
      </p:sp>
    </p:spTree>
    <p:extLst>
      <p:ext uri="{BB962C8B-B14F-4D97-AF65-F5344CB8AC3E}">
        <p14:creationId xmlns:p14="http://schemas.microsoft.com/office/powerpoint/2010/main" val="8466607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2026-09-25T12:20:36.4600000Z</dcterms:created>
  <dcterms:modified xsi:type="dcterms:W3CDTF">2026-09-25T12:20:36.4600000Z</dcterms:modified>
</coreProperties>
</file>